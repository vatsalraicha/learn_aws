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3E00"/>
                </a:solidFill>
                <a:latin typeface="Calibri"/>
              </a:rPr>
              <a:t>Databricks ML Associate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Mastery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0440"/>
            <a:ext cx="2286000" cy="54864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5F6F7"/>
                </a:solidFill>
                <a:latin typeface="Calibri"/>
              </a:rPr>
              <a:t>A visual companion to the textbook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AB4C8"/>
                </a:solidFill>
                <a:latin typeface="Calibri"/>
              </a:rPr>
              <a:t>Diagrams · derivations · comparison tables · worked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78C"/>
                </a:solidFill>
                <a:latin typeface="Calibri"/>
              </a:rPr>
              <a:t>Career upskill · Topic 09a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Who this deck is for · How to use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394960" cy="43891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>• Strong Python; PySpark and ML are taught from zero in the textbook.</a:t>
            </a:r>
          </a:p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>• You're sitting the Databricks ML Associate exam, but more importantly you want to be genuinely good at the job.</a:t>
            </a:r>
          </a:p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>• You'd rather understand the math than memorize an answer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43891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HOW TO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>• Each content slide is a self-contained concept lens — read it on a flight, in a 1:1, or as a refresher.</a:t>
            </a:r>
          </a:p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>• Footer references the chapter(s) where the depth lives. Always go to the book for derivations.</a:t>
            </a:r>
          </a:p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5F6F7"/>
                </a:solidFill>
                <a:latin typeface="Calibri"/>
              </a:rPr>
              <a:t>• Slides are diagrams first, prose second. If a slide is just bullets, it's a comparison table — and that's the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Preface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Thirteen parts · 76 textbook chapters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63040"/>
          <a:ext cx="1081735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668"/>
                <a:gridCol w="3090672"/>
                <a:gridCol w="5408676"/>
                <a:gridCol w="1545336"/>
              </a:tblGrid>
              <a:tr h="346165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Why ML exists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Framing the problem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 – 4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Probability &amp; statistics primer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RVs, distributions, Bayes, CLT, tests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5 – 10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Linear algebra &amp; calculus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Vectors, matrices, eigen, gradients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11 – 15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The fundamental ML problem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Loss, GD, bias-variance, CV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16 – 22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Feature engineering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EDA → encoding → selection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23 – 30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Supervised algorithms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Linear → trees → boosting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31 – 37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Unsupervised algorithms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K-means, hierarchical, PCA, UMAP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38 – 41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Model evaluation theory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Confusion, ROC, regression metrics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42 – 47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Hyperparameter optimization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Grid, random, Bayesian, Hyperopt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48 – 54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Spark from zero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Architecture, Catalyst, shuffle, AQE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55 – 61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pyspark.ml in depth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Pipelines, CV, persistence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62 – 67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34616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Databricks platform &amp; MLflow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UC, Feature Store, MLflow, AutoML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68 – 74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346175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Capstone &amp; exam strategy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Lending Club end-to-end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75 – 76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Why ML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1 –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ML as function approximation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Learn an unknown f: X → Y from a sample of (x, y) pairs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286000"/>
            <a:ext cx="2377440" cy="2377440"/>
          </a:xfrm>
          <a:prstGeom prst="ellipse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>INPUT  X</a:t>
            </a:r>
          </a:p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>email text</a:t>
            </a:r>
          </a:p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>pixels</a:t>
            </a:r>
          </a:p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>user features</a:t>
            </a:r>
          </a:p>
        </p:txBody>
      </p:sp>
      <p:sp>
        <p:nvSpPr>
          <p:cNvPr id="8" name="Oval 7"/>
          <p:cNvSpPr/>
          <p:nvPr/>
        </p:nvSpPr>
        <p:spPr>
          <a:xfrm>
            <a:off x="9006840" y="2286000"/>
            <a:ext cx="2377440" cy="2377440"/>
          </a:xfrm>
          <a:prstGeom prst="ellipse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286000"/>
            <a:ext cx="237744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>OUTPUT  Y</a:t>
            </a:r>
          </a:p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>spam / not</a:t>
            </a:r>
          </a:p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>digit class</a:t>
            </a:r>
          </a:p>
          <a:p>
            <a:pPr algn="ctr"/>
            <a:r>
              <a:rPr sz="1400" b="0">
                <a:solidFill>
                  <a:srgbClr val="F5F6F7"/>
                </a:solidFill>
                <a:latin typeface="Calibri"/>
              </a:rPr>
              <a:t>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017520"/>
            <a:ext cx="4480560" cy="91440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01752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f̂  ≈  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474720"/>
            <a:ext cx="64008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3474720"/>
            <a:ext cx="68580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12064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AAB4C8"/>
                </a:solidFill>
                <a:latin typeface="Calibri"/>
              </a:rPr>
              <a:t>We have many (xᵢ, yᵢ).  We don't know f.  We pick a hypothesis class H and search for the h ∈ H that minimises loss on the data — gambling that low train loss generalises to new 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three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What the learner is given dictates what it can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57600" cy="4297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57600" cy="50292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Labeled (x, y)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Goal: predict y for new x.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Classification: y ∈ {classes}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Regression: y ∈ ℝ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Examples: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spam / not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credit default risk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house price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657600" cy="4297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A06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657600" cy="50292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UNSUPERVISED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Only x, no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Goal: find structure.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Clustering, dim. reduction,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density estimation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Examples: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customer segments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PCA for compression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anomaly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657600" cy="4297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657600" cy="50292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544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1826"/>
                </a:solidFill>
                <a:latin typeface="Calibri"/>
              </a:rPr>
              <a:t>REINFORCEMENT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State + reward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Goal: learn a policy π that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maximises expected reward.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Not on the Associate exam,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but shapes how you read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production ML systems.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Examples: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AlphaGo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ad bidding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robotics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Spam detection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Every step appears in every supervised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417320" cy="914400"/>
          </a:xfrm>
          <a:prstGeom prst="roundRect">
            <a:avLst/>
          </a:prstGeom>
          <a:solidFill>
            <a:srgbClr val="1B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Raw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emails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828800"/>
            <a:ext cx="1417320" cy="91440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82880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1417320" cy="914400"/>
          </a:xfrm>
          <a:prstGeom prst="roundRect">
            <a:avLst/>
          </a:prstGeom>
          <a:solidFill>
            <a:srgbClr val="1B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Features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(BoW, TF-IDF)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828800"/>
            <a:ext cx="1417320" cy="914400"/>
          </a:xfrm>
          <a:prstGeom prst="roundRect">
            <a:avLst/>
          </a:prstGeom>
          <a:solidFill>
            <a:srgbClr val="1B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2880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Split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train/test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828800"/>
            <a:ext cx="1417320" cy="91440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logreg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828800"/>
            <a:ext cx="1417320" cy="914400"/>
          </a:xfrm>
          <a:prstGeom prst="round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82880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 / R /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828800"/>
            <a:ext cx="1417320" cy="914400"/>
          </a:xfrm>
          <a:prstGeom prst="round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82880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21826"/>
                </a:solidFill>
                <a:latin typeface="Calibri"/>
              </a:rPr>
              <a:t>Deploy +</a:t>
            </a:r>
          </a:p>
          <a:p>
            <a:pPr algn="ctr"/>
            <a:r>
              <a:rPr sz="1200" b="1">
                <a:solidFill>
                  <a:srgbClr val="121826"/>
                </a:solidFill>
                <a:latin typeface="Calibri"/>
              </a:rPr>
              <a:t>monitor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92808" y="2286000"/>
            <a:ext cx="146304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93008" y="2286000"/>
            <a:ext cx="146304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93208" y="2286000"/>
            <a:ext cx="146304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93408" y="2286000"/>
            <a:ext cx="146304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93608" y="2286000"/>
            <a:ext cx="146304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93808" y="2286000"/>
            <a:ext cx="146304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3931920"/>
            <a:ext cx="530352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3E00"/>
                </a:solidFill>
                <a:latin typeface="Calibri"/>
              </a:rPr>
              <a:t>THE THRESHOLD KNOB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3484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The model outputs P(spam | x). The threshold τ converts that score into a decision.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Move τ up → fewer flagged emails, higher precision, lower recall.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The model didn't change. The operating point did.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931920"/>
            <a:ext cx="548640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3E00"/>
                </a:solidFill>
                <a:latin typeface="Calibri"/>
              </a:rPr>
              <a:t>VOCABULARY YOU OWN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3484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feature · label · training · inference · accuracy · precision · recall · F1 · threshold · overfitting · class imbalance · operating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seven-stage ML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Every later chapter slots into one of these stages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1554480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Problem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Loss, metric,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737360"/>
            <a:ext cx="1554480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1874520"/>
            <a:ext cx="548640" cy="5486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874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423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Source, schema, 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1737360"/>
            <a:ext cx="1554480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1874520"/>
            <a:ext cx="548640" cy="5486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874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423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EDA &amp;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feature eng.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Clean, encode,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1737360"/>
            <a:ext cx="1554480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52160" y="1874520"/>
            <a:ext cx="548640" cy="5486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874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423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Algo + hparams + CV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1737360"/>
            <a:ext cx="1554480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0" y="1874520"/>
            <a:ext cx="548640" cy="5486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1874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423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Holdout, cohorts, fairness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1737360"/>
            <a:ext cx="1554480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0" y="1874520"/>
            <a:ext cx="548640" cy="5486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874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423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Batch · streaming · real-time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1737360"/>
            <a:ext cx="1554480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89920" y="1874520"/>
            <a:ext cx="548640" cy="5486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1874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2423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27889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Drift, retrain triggers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47120" y="2423160"/>
            <a:ext cx="27432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521440" y="2423160"/>
            <a:ext cx="0" cy="242316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94360" y="4846320"/>
            <a:ext cx="10927080" cy="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94360" y="3108960"/>
            <a:ext cx="0" cy="173736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4360" y="3108960"/>
            <a:ext cx="45720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8580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Monitoring drives retraining — the lifecycle is a loop, not a line.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486400"/>
            <a:ext cx="108173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AB4C8"/>
                </a:solidFill>
                <a:latin typeface="Calibri"/>
              </a:rPr>
              <a:t>On Databricks: stages 2-3 → DLT / Spark; stage 4 → pyspark.ml + MLflow; stage 6 → Model Serving; stage 7 → Lakehouse Monitoring + scheduled jobs.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ML vs rule-based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When you'd choose one over the other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4509820"/>
                <a:gridCol w="4509820"/>
              </a:tblGrid>
              <a:tr h="54864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Rule-based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Rules + data → output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Data + output → rules (learned)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Maintainability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Rules grow without bound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Retrain when data shifts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Edge cases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Need explicit rule per case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Generalises from examples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Explainability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Trivially auditable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Depends on model class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Data hunger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Hungry — and quality &gt; quantity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When it wins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Stable, well-specified domains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Pattern-rich, noisy, evolving inputs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4864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Brittleness as rules pile up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Silent drift; concept change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Use ML when the rules are hidden inside the data — not when you can just write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data is for — a preview of Part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Three roles, three different jobs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926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TRAIN  ~60-80%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Used to fit the model parameters.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The optimiser SEES every example here.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Loss on this set goes down as you train — by design.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Don't trust it as a quality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651760" cy="2926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2651760" cy="50292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1826"/>
                </a:solidFill>
                <a:latin typeface="Calibri"/>
              </a:rPr>
              <a:t>VAL  ~10-20%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14600"/>
            <a:ext cx="2377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Pick hyperparameters.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Select models.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Model SEES this indirectly.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No unbiased estimate of true performance lives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828800"/>
            <a:ext cx="2606040" cy="2926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828800"/>
            <a:ext cx="2606040" cy="50292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82880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TEST  ~10-20%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514600"/>
            <a:ext cx="2331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Touched ONCE, at the end.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Unbiased estimate of generalisation.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Touching twice = silently overfitting to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108173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AB4C8"/>
                </a:solidFill>
                <a:latin typeface="Calibri"/>
              </a:rPr>
              <a:t>The deeper story (cross-validation, stratified splits, time-series CV, leakage) lives in Chapters 21–22. For now: holdouts are not interchangeable — each answers a different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 → Chs 21-22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Probability &amp;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5 –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Random variables · PMF vs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Discrete spikes vs continuous densities — same idea, different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D8BFD"/>
                </a:solidFill>
                <a:latin typeface="Calibri"/>
              </a:rPr>
              <a:t>DISCRETE   P(X = x)  —  the PMF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22960" y="2377440"/>
            <a:ext cx="0" cy="2834640"/>
          </a:xfrm>
          <a:prstGeom prst="bentConnector3">
            <a:avLst/>
          </a:prstGeom>
          <a:ln w="127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" y="5212080"/>
            <a:ext cx="4846320" cy="0"/>
          </a:xfrm>
          <a:prstGeom prst="bentConnector3">
            <a:avLst/>
          </a:prstGeom>
          <a:ln w="127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0" y="5257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663440"/>
            <a:ext cx="457200" cy="54864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114800"/>
            <a:ext cx="457200" cy="109728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3566160"/>
            <a:ext cx="457200" cy="164592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3200400"/>
            <a:ext cx="457200" cy="201168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3840480"/>
            <a:ext cx="457200" cy="137160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4389120"/>
            <a:ext cx="457200" cy="82296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4846320"/>
            <a:ext cx="457200" cy="36576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Sum of bar heights = 1.   Example: dice, # spam emails, # clicks.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C070"/>
                </a:solidFill>
                <a:latin typeface="Calibri"/>
              </a:rPr>
              <a:t>CONTINUOUS   f(x)  —  the PDF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629400" y="2377440"/>
            <a:ext cx="0" cy="2834640"/>
          </a:xfrm>
          <a:prstGeom prst="bentConnector3">
            <a:avLst/>
          </a:prstGeom>
          <a:ln w="127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29400" y="5212080"/>
            <a:ext cx="4846320" cy="0"/>
          </a:xfrm>
          <a:prstGeom prst="bentConnector3">
            <a:avLst/>
          </a:prstGeom>
          <a:ln w="127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812280" y="5176432"/>
            <a:ext cx="77491" cy="923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89771" y="5164460"/>
            <a:ext cx="77492" cy="1197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67263" y="5149121"/>
            <a:ext cx="77491" cy="1533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044754" y="5129697"/>
            <a:ext cx="77492" cy="1942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22246" y="5105390"/>
            <a:ext cx="77491" cy="2430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199737" y="5075333"/>
            <a:ext cx="77492" cy="3005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77229" y="5038612"/>
            <a:ext cx="77491" cy="3672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54720" y="4994293"/>
            <a:ext cx="77492" cy="443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432212" y="4941466"/>
            <a:ext cx="77491" cy="5282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509703" y="4879283"/>
            <a:ext cx="77492" cy="6218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587195" y="4807023"/>
            <a:ext cx="77491" cy="7226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664686" y="4724145"/>
            <a:ext cx="77492" cy="8287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742178" y="4630357"/>
            <a:ext cx="77491" cy="9378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819669" y="4525678"/>
            <a:ext cx="77492" cy="10467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897161" y="4410495"/>
            <a:ext cx="77491" cy="11518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974652" y="4285614"/>
            <a:ext cx="77492" cy="12488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052144" y="4152295"/>
            <a:ext cx="77491" cy="1333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129635" y="4012263"/>
            <a:ext cx="77492" cy="14003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207127" y="3867705"/>
            <a:ext cx="77491" cy="14455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284618" y="3721228"/>
            <a:ext cx="77492" cy="14647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362110" y="3575802"/>
            <a:ext cx="77492" cy="14542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439602" y="3434666"/>
            <a:ext cx="77491" cy="14113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517093" y="3301222"/>
            <a:ext cx="77492" cy="13344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594585" y="3178895"/>
            <a:ext cx="77491" cy="12232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672076" y="3070995"/>
            <a:ext cx="77492" cy="10790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749568" y="2980566"/>
            <a:ext cx="77491" cy="9042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27059" y="2910247"/>
            <a:ext cx="77492" cy="703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904551" y="2862141"/>
            <a:ext cx="77491" cy="4810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982042" y="2837712"/>
            <a:ext cx="77492" cy="2442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59534" y="2837712"/>
            <a:ext cx="77491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137025" y="2837712"/>
            <a:ext cx="77492" cy="2442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14517" y="2862141"/>
            <a:ext cx="77491" cy="4810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92008" y="2910247"/>
            <a:ext cx="77492" cy="703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500" y="2980566"/>
            <a:ext cx="77491" cy="9042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46991" y="3070995"/>
            <a:ext cx="77492" cy="10790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524483" y="3178895"/>
            <a:ext cx="77491" cy="12232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01974" y="3301222"/>
            <a:ext cx="77492" cy="13344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79466" y="3434666"/>
            <a:ext cx="77491" cy="14113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56957" y="3575802"/>
            <a:ext cx="77492" cy="14542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4449" y="3721228"/>
            <a:ext cx="77492" cy="14647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911941" y="3867705"/>
            <a:ext cx="77491" cy="14455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89432" y="4012263"/>
            <a:ext cx="77492" cy="14003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066924" y="4152295"/>
            <a:ext cx="77491" cy="1333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144415" y="4285614"/>
            <a:ext cx="77492" cy="12488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221907" y="4410495"/>
            <a:ext cx="77491" cy="11518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299398" y="4525678"/>
            <a:ext cx="77492" cy="10467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376890" y="4630357"/>
            <a:ext cx="77491" cy="9378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454381" y="4724145"/>
            <a:ext cx="77492" cy="8287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531873" y="4807023"/>
            <a:ext cx="77491" cy="7226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609364" y="4879283"/>
            <a:ext cx="77492" cy="6218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686856" y="4941466"/>
            <a:ext cx="77491" cy="5282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764347" y="4994293"/>
            <a:ext cx="77492" cy="443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841839" y="5038612"/>
            <a:ext cx="77491" cy="3672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919330" y="5075333"/>
            <a:ext cx="77492" cy="3005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996822" y="5105390"/>
            <a:ext cx="77491" cy="2430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074313" y="5129697"/>
            <a:ext cx="77492" cy="1942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151805" y="5149121"/>
            <a:ext cx="77491" cy="1533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229296" y="5164460"/>
            <a:ext cx="77492" cy="1197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306788" y="5176432"/>
            <a:ext cx="77492" cy="923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446520" y="55778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Area under curve = 1.   P(a ≤ X ≤ b) = ∫ₐᵇ f(x) dx.   Height ≠ probability.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Four distributions you must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PMF/PDF · mean · variance · when it shows up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4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977"/>
                <a:gridCol w="3733295"/>
                <a:gridCol w="895990"/>
                <a:gridCol w="1045322"/>
                <a:gridCol w="3359965"/>
              </a:tblGrid>
              <a:tr h="80467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PMF / PDF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E[X]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Var[X]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Where you meet it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8046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Bernoulli(p)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P(1)=p, P(0)=1-p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p(1-p)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One coin flip; one binary label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8046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Binomial(n, p)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C(n,k) pᵏ (1-p)ⁿ⁻ᵏ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np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np(1-p)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# clicks in n impressions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8046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Poisson(λ)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e⁻ᵠ λᵏ / k!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λ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λ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Rare events per interval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8046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Normal(μ, σ²)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(1/√(2πσ²))·e^(-(x-μ)²/2σ²)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μ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σ²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Sample means (via CLT)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AB4C8"/>
                </a:solidFill>
                <a:latin typeface="Calibri"/>
              </a:rPr>
              <a:t>Memorise the moments — they appear in everything from class-imbalance reasoning to confidence-interval width.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Bayes' theorem · the rare-disease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Why a 99%-accurate test isn't 99% reliable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74552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P(disease | +)  =  [ P(+ | disease) · P(disease) ]  /  P(+)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548640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Prevalence:           P(D)  = 0.001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Sensitivity:           P(+|D)  = 0.99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False positive rate: P(+|¬D) = 0.05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Population: 100,000 people.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06040"/>
            <a:ext cx="548640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97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ARITHMETIC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632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True positives:   0.001 · 0.99 · 100k =     99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False positives:  0.999 · 0.05 · 100k =  4,995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Total positives:                            5,094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P(D | +) = 99 / 5,094  ≈  1.9%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274552" cy="128016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74552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Test is "99% accurate".  A positive result still means only 1.9% chance of disease.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Posterior = (likelihood × prior) / evidence — and the prior matters as much as the likelihood.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LLN and CLT · why averages behave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The two theorems that make statistics possible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Law of Large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onsolas"/>
              </a:rPr>
              <a:t>X̄ₙ  →  μ   as n → ∞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31520" y="3108960"/>
            <a:ext cx="0" cy="219456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" y="5303520"/>
            <a:ext cx="50292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" y="4206240"/>
            <a:ext cx="5029200" cy="0"/>
          </a:xfrm>
          <a:prstGeom prst="line">
            <a:avLst/>
          </a:prstGeom>
          <a:ln w="19050" cap="flat">
            <a:solidFill>
              <a:srgbClr val="4CC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" y="4399544"/>
            <a:ext cx="82296" cy="139840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05256" y="4078843"/>
            <a:ext cx="82296" cy="460541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7552" y="4078843"/>
            <a:ext cx="82296" cy="45095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69848" y="4181633"/>
            <a:ext cx="82295" cy="34816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52143" y="4181633"/>
            <a:ext cx="82296" cy="108822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34439" y="4290455"/>
            <a:ext cx="82297" cy="171047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16736" y="4202260"/>
            <a:ext cx="82296" cy="259242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99032" y="4202260"/>
            <a:ext cx="82296" cy="234660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481328" y="4237222"/>
            <a:ext cx="82295" cy="199698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63623" y="4237222"/>
            <a:ext cx="82296" cy="15781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45919" y="4375712"/>
            <a:ext cx="82297" cy="1932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28216" y="4235819"/>
            <a:ext cx="82296" cy="13989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10512" y="4084665"/>
            <a:ext cx="82296" cy="151154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92808" y="4084665"/>
            <a:ext cx="82296" cy="254734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975104" y="4299681"/>
            <a:ext cx="82296" cy="39718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57400" y="4165114"/>
            <a:ext cx="82296" cy="134567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39696" y="4067857"/>
            <a:ext cx="82296" cy="97257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21992" y="4067857"/>
            <a:ext cx="82296" cy="115518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04288" y="4183375"/>
            <a:ext cx="82296" cy="52311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386584" y="4075594"/>
            <a:ext cx="82296" cy="160092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68880" y="4075594"/>
            <a:ext cx="82296" cy="250531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551176" y="4114766"/>
            <a:ext cx="82296" cy="211359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33472" y="4114766"/>
            <a:ext cx="82296" cy="143352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15768" y="4258118"/>
            <a:ext cx="82296" cy="32981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98064" y="4291099"/>
            <a:ext cx="82296" cy="343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80360" y="4249127"/>
            <a:ext cx="82296" cy="45405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962656" y="4137552"/>
            <a:ext cx="82296" cy="111575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44952" y="4137552"/>
            <a:ext cx="82296" cy="136059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127248" y="4189504"/>
            <a:ext cx="82296" cy="84107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209544" y="4178527"/>
            <a:ext cx="82296" cy="10977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291840" y="4178527"/>
            <a:ext cx="82296" cy="52494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374136" y="4197208"/>
            <a:ext cx="82296" cy="3381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56432" y="4197208"/>
            <a:ext cx="82296" cy="89661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38728" y="4285459"/>
            <a:ext cx="82296" cy="1410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21024" y="4257863"/>
            <a:ext cx="82296" cy="27596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703320" y="4175311"/>
            <a:ext cx="82296" cy="82552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785616" y="4175311"/>
            <a:ext cx="82296" cy="43059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67912" y="4218370"/>
            <a:ext cx="82296" cy="18307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950208" y="4192535"/>
            <a:ext cx="82296" cy="44142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032504" y="4192535"/>
            <a:ext cx="82295" cy="2104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114799" y="4213578"/>
            <a:ext cx="82297" cy="23390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197096" y="4161992"/>
            <a:ext cx="82296" cy="74976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279392" y="4161992"/>
            <a:ext cx="82296" cy="14939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61688" y="4176931"/>
            <a:ext cx="82295" cy="66256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443983" y="4195703"/>
            <a:ext cx="82296" cy="47484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26279" y="4195703"/>
            <a:ext cx="82296" cy="7038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608575" y="4155106"/>
            <a:ext cx="82296" cy="47635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690871" y="4155106"/>
            <a:ext cx="82297" cy="20431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773168" y="4175537"/>
            <a:ext cx="82296" cy="58570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855464" y="4144254"/>
            <a:ext cx="82296" cy="8985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937760" y="4144254"/>
            <a:ext cx="82296" cy="110435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020056" y="4216449"/>
            <a:ext cx="82295" cy="38240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102351" y="4174715"/>
            <a:ext cx="82296" cy="41734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184647" y="4174715"/>
            <a:ext cx="82296" cy="73488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266943" y="4207549"/>
            <a:ext cx="82297" cy="40654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349240" y="4207549"/>
            <a:ext cx="82296" cy="52480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431536" y="4186913"/>
            <a:ext cx="82296" cy="73116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513832" y="4176312"/>
            <a:ext cx="82295" cy="10601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596127" y="4176312"/>
            <a:ext cx="82296" cy="21793"/>
          </a:xfrm>
          <a:prstGeom prst="line">
            <a:avLst/>
          </a:prstGeom>
          <a:ln w="1524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0080" y="54864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B4C8"/>
                </a:solidFill>
                <a:latin typeface="Calibri"/>
              </a:rPr>
              <a:t>Sample mean converges to true mean.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6364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63640" y="1554480"/>
            <a:ext cx="5486400" cy="50292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15544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Central Limit Theorem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46520" y="21945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onsolas"/>
              </a:rPr>
              <a:t>X̄ₙ  ~  Normal(μ, σ²/n)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C8"/>
                </a:solidFill>
                <a:latin typeface="Calibri"/>
              </a:rPr>
              <a:t>Source dist (any)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6583680" y="3383280"/>
            <a:ext cx="0" cy="173736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583680" y="5120640"/>
            <a:ext cx="219456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6675120" y="4846320"/>
            <a:ext cx="228600" cy="27432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31152" y="4297680"/>
            <a:ext cx="228600" cy="82296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87184" y="3657600"/>
            <a:ext cx="228600" cy="146304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43216" y="3840480"/>
            <a:ext cx="228600" cy="128016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9248" y="4297680"/>
            <a:ext cx="228600" cy="82296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955280" y="4572000"/>
            <a:ext cx="228600" cy="54864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11312" y="4754880"/>
            <a:ext cx="228600" cy="36576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467344" y="4846320"/>
            <a:ext cx="228600" cy="27432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8869680" y="4114800"/>
            <a:ext cx="320040" cy="0"/>
          </a:xfrm>
          <a:prstGeom prst="bentConnector3">
            <a:avLst/>
          </a:prstGeom>
          <a:ln w="3175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14400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C8"/>
                </a:solidFill>
                <a:latin typeface="Calibri"/>
              </a:rPr>
              <a:t>Dist of X̄ₙ</a:t>
            </a:r>
          </a:p>
        </p:txBody>
      </p:sp>
      <p:cxnSp>
        <p:nvCxnSpPr>
          <p:cNvPr id="90" name="Connector 89"/>
          <p:cNvCxnSpPr/>
          <p:nvPr/>
        </p:nvCxnSpPr>
        <p:spPr>
          <a:xfrm flipV="1">
            <a:off x="9235440" y="3383280"/>
            <a:ext cx="0" cy="173736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235440" y="5120640"/>
            <a:ext cx="237744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9326880" y="5027306"/>
            <a:ext cx="56270" cy="25035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9383150" y="4995173"/>
            <a:ext cx="56271" cy="32133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439421" y="4954726"/>
            <a:ext cx="56271" cy="40447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495692" y="4904818"/>
            <a:ext cx="56271" cy="49908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51963" y="4844474"/>
            <a:ext cx="56270" cy="60344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08233" y="4773019"/>
            <a:ext cx="56271" cy="71455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664504" y="4690208"/>
            <a:ext cx="56271" cy="8281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720775" y="4596359"/>
            <a:ext cx="56271" cy="93849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777046" y="4492458"/>
            <a:ext cx="56270" cy="10390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833316" y="4380236"/>
            <a:ext cx="56271" cy="112222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889587" y="4262193"/>
            <a:ext cx="56271" cy="118043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945858" y="4141556"/>
            <a:ext cx="56271" cy="120637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002129" y="4022170"/>
            <a:ext cx="56270" cy="119386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58399" y="3908318"/>
            <a:ext cx="56271" cy="113852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14670" y="3804477"/>
            <a:ext cx="56271" cy="10384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170941" y="3715036"/>
            <a:ext cx="56271" cy="8944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227212" y="3643989"/>
            <a:ext cx="56271" cy="71047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283483" y="3594640"/>
            <a:ext cx="56270" cy="49349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339753" y="3569351"/>
            <a:ext cx="56271" cy="25289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396024" y="3569351"/>
            <a:ext cx="56271" cy="0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452295" y="3569351"/>
            <a:ext cx="56271" cy="25289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508566" y="3594640"/>
            <a:ext cx="56270" cy="49349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564836" y="3643989"/>
            <a:ext cx="56271" cy="71047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621107" y="3715036"/>
            <a:ext cx="56271" cy="8944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677378" y="3804477"/>
            <a:ext cx="56271" cy="10384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733649" y="3908318"/>
            <a:ext cx="56271" cy="113852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789920" y="4022170"/>
            <a:ext cx="56270" cy="119386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846190" y="4141556"/>
            <a:ext cx="56271" cy="120637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902461" y="4262193"/>
            <a:ext cx="56271" cy="118043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958732" y="4380236"/>
            <a:ext cx="56271" cy="112222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1015003" y="4492458"/>
            <a:ext cx="56270" cy="10390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071273" y="4596359"/>
            <a:ext cx="56271" cy="93849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127544" y="4690208"/>
            <a:ext cx="56271" cy="8281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1183815" y="4773019"/>
            <a:ext cx="56271" cy="71455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240086" y="4844474"/>
            <a:ext cx="56270" cy="60344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1296356" y="4904818"/>
            <a:ext cx="56271" cy="49908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1352627" y="4954726"/>
            <a:ext cx="56271" cy="40447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1408898" y="4995173"/>
            <a:ext cx="56271" cy="32133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1465169" y="5027306"/>
            <a:ext cx="56271" cy="25035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6446520" y="54864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B4C8"/>
                </a:solidFill>
                <a:latin typeface="Calibri"/>
              </a:rPr>
              <a:t>Mean of n samples becomes Normal, whatever the source.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hypothesis-testing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Five boxes — every test in classical stats slots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10312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178308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State H₀ and H₁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Null: no effect.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Alternative: the effect you suspect.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310896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97480" y="2011680"/>
            <a:ext cx="210312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178308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286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Pick test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statistic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0175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Choose based on data: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t-test, χ², z, F, KS…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310896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92040" y="2011680"/>
            <a:ext cx="210312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286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Pick α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(significance)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175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Type-I error budget.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Usually 0.05 or 0.01.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95160" y="310896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86600" y="2011680"/>
            <a:ext cx="210312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5280" y="178308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286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Compute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p-value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0175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P(seeing data this extreme | H₀ true).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9720" y="310896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81160" y="2011680"/>
            <a:ext cx="210312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49840" y="178308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286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0175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p &lt; α  →  reject H₀.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Else: fail to reject (NOT "accept").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11274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AB4C8"/>
                </a:solidFill>
                <a:latin typeface="Calibri"/>
              </a:rPr>
              <a:t>A small p-value is evidence against H₀ — it is NOT the probability that H₀ is true, and it is NOT the probability you'd get the same effect again. See next slide.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p-value · what it IS vs what it ISN'T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More misinterpreted than understood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67056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The p-value IS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The p-value is NOT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P(data this extreme | H₀ true)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P(H₀ true | data)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A statement about long-run behaviour under H₀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The probability the result will replicate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Sensitive to sample size — large n shrinks p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A measure of effect size or practical importance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A decision tool when paired with α and effect size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Proof that the alternative hypothesis is correct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Conditional on a specific model + assumptions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Robust to multiple comparisons (Bonferroni etc.)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806440"/>
            <a:ext cx="11274552" cy="54864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 ≠ probability the null is true.   p = probability of THIS DATA, given the null.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Confidence intervals · the misunderstood cousin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Long-run coverage — not a probability about the parameter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0" y="1737360"/>
            <a:ext cx="0" cy="4206240"/>
          </a:xfrm>
          <a:prstGeom prst="line">
            <a:avLst/>
          </a:prstGeom>
          <a:ln w="31750" cap="flat">
            <a:solidFill>
              <a:srgbClr val="FF3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46520" y="1508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true 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15340" y="1828800"/>
            <a:ext cx="1395866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15340" y="17739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11206" y="17739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43797" y="2057400"/>
            <a:ext cx="1428614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43797" y="20025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72411" y="20025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72134" y="2286000"/>
            <a:ext cx="1133232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72134" y="22311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05366" y="22311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88234" y="2514600"/>
            <a:ext cx="1556749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88234" y="24597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44983" y="24597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23822" y="2743200"/>
            <a:ext cx="1225843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23822" y="26883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749665" y="26883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67018" y="2971800"/>
            <a:ext cx="1355285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67018" y="29169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22303" y="29169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0679" y="3200400"/>
            <a:ext cx="1358626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0679" y="31455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49305" y="31455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63439" y="3429000"/>
            <a:ext cx="1179914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63439" y="33741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43353" y="33741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62017" y="3657600"/>
            <a:ext cx="1573525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762017" y="36027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35542" y="36027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74256" y="3886200"/>
            <a:ext cx="1503960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674256" y="38313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178216" y="38313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22681" y="4114800"/>
            <a:ext cx="1132410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22681" y="40599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155091" y="40599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73360" y="4343400"/>
            <a:ext cx="1421581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73360" y="42885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94941" y="42885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25587" y="4572000"/>
            <a:ext cx="1114295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625587" y="45171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39882" y="45171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23561" y="4800600"/>
            <a:ext cx="1356649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123561" y="47457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480210" y="47457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851195" y="5029200"/>
            <a:ext cx="1579432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851195" y="49743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430627" y="49743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834444" y="5257800"/>
            <a:ext cx="1602631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834444" y="52029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437075" y="52029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517200" y="5486400"/>
            <a:ext cx="1536690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17200" y="54315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053890" y="54315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534743" y="5715000"/>
            <a:ext cx="1610580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534743" y="56601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145323" y="5660136"/>
            <a:ext cx="0" cy="1097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57200" y="1554480"/>
            <a:ext cx="521208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1691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WHAT A 95% CI ACTUALLY MEANS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219456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If you repeated the experiment many times and built a CI each time using the same procedure, about 95% of those intervals would contain the true parameter.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It does NOT mean: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95% chance THIS interval contains μ.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95% of data points are in it.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Future estimates land here 95% of the time.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Right →  18 intervals from 18 simulated samples.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Green covered μ; red missed.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Linear Algebra &amp; Calculus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11 –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Vectors as arrows · dot product as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Geometry first, indices later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TWO VECTORS IN ℝ²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200400" y="2286000"/>
            <a:ext cx="0" cy="2834640"/>
          </a:xfrm>
          <a:prstGeom prst="bentConnector3">
            <a:avLst/>
          </a:prstGeom>
          <a:ln w="127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0" y="5120640"/>
            <a:ext cx="2560320" cy="0"/>
          </a:xfrm>
          <a:prstGeom prst="bentConnector3">
            <a:avLst/>
          </a:prstGeom>
          <a:ln w="127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00400" y="4023360"/>
            <a:ext cx="1645920" cy="1097280"/>
          </a:xfrm>
          <a:prstGeom prst="bentConnector3">
            <a:avLst/>
          </a:prstGeom>
          <a:ln w="381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2040" y="37947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E00"/>
                </a:solidFill>
                <a:latin typeface="Calibri"/>
              </a:rPr>
              <a:t>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00400" y="3291840"/>
            <a:ext cx="822960" cy="1828800"/>
          </a:xfrm>
          <a:prstGeom prst="bentConnector3">
            <a:avLst/>
          </a:prstGeom>
          <a:ln w="38100">
            <a:solidFill>
              <a:srgbClr val="3D8BF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49040" y="29260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FD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17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DOT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Algebraic:   a · b  =  Σᵢ aᵢ bᵢ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Geometric:  a · b  =  ‖a‖ ‖b‖ cos θ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Therefore:   cos θ  =  (a · b) / (‖a‖ ‖b‖)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This is COSINE SIMILARITY — used in TF-IDF,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embeddings, recommenders.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Special cases: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  · perpendicular  →  a · b = 0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  · same direction →  a · b = ‖a‖ ‖b‖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Chs 11-12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Projection · the workhorse of regression and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The shadow of a on b's direction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303520"/>
            <a:ext cx="6766560" cy="0"/>
          </a:xfrm>
          <a:prstGeom prst="line">
            <a:avLst/>
          </a:prstGeom>
          <a:ln w="1270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828800" y="2926080"/>
            <a:ext cx="4114800" cy="2377440"/>
          </a:xfrm>
          <a:prstGeom prst="bentConnector3">
            <a:avLst/>
          </a:prstGeom>
          <a:ln w="381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35040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3E00"/>
                </a:solidFill>
                <a:latin typeface="Calibri"/>
              </a:rPr>
              <a:t>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5303520"/>
            <a:ext cx="5029200" cy="0"/>
          </a:xfrm>
          <a:prstGeom prst="bentConnector3">
            <a:avLst/>
          </a:prstGeom>
          <a:ln w="38100">
            <a:solidFill>
              <a:srgbClr val="3D8BF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03720" y="5257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D8BFD"/>
                </a:solidFill>
                <a:latin typeface="Calibri"/>
              </a:rPr>
              <a:t>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926080"/>
            <a:ext cx="0" cy="2377440"/>
          </a:xfrm>
          <a:prstGeom prst="line">
            <a:avLst/>
          </a:prstGeom>
          <a:ln w="25400" cap="flat">
            <a:solidFill>
              <a:srgbClr val="4CC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5349240"/>
            <a:ext cx="4114800" cy="0"/>
          </a:xfrm>
          <a:prstGeom prst="bentConnector3">
            <a:avLst/>
          </a:prstGeom>
          <a:ln w="3810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00400" y="5394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proj_b(a)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554480"/>
            <a:ext cx="402336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2860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proj_b(a)  =  ((a · b) / (b · b)) · b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Used in: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OLS regression — projecting y onto col(X)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Gram-Schmidt orthogonalisation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PCA — projecting data onto principal axes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Residual = a − proj_b(a)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Matrix as a linear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 matrix is what it DOES to space — not the table of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BEFORE   (unit square, basis e₁ e₂)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2468880"/>
            <a:ext cx="0" cy="283464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5303520"/>
            <a:ext cx="384048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28800" y="3840480"/>
            <a:ext cx="1463040" cy="146304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828800" y="5303520"/>
            <a:ext cx="1463040" cy="0"/>
          </a:xfrm>
          <a:prstGeom prst="bentConnector3">
            <a:avLst/>
          </a:prstGeom>
          <a:ln w="317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28800" y="3840480"/>
            <a:ext cx="0" cy="1463040"/>
          </a:xfrm>
          <a:prstGeom prst="bentConnector3">
            <a:avLst/>
          </a:prstGeom>
          <a:ln w="317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AFTER  A = [[2, 1], [0, 1.5]]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589520" y="2468880"/>
            <a:ext cx="0" cy="283464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9520" y="5303520"/>
            <a:ext cx="393192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arallelogram 16"/>
          <p:cNvSpPr/>
          <p:nvPr/>
        </p:nvSpPr>
        <p:spPr>
          <a:xfrm>
            <a:off x="8503920" y="3657600"/>
            <a:ext cx="2743200" cy="1645920"/>
          </a:xfrm>
          <a:prstGeom prst="parallelogram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589520" y="5303520"/>
            <a:ext cx="1828800" cy="0"/>
          </a:xfrm>
          <a:prstGeom prst="bentConnector3">
            <a:avLst/>
          </a:prstGeom>
          <a:ln w="317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89520" y="3657600"/>
            <a:ext cx="914400" cy="1645920"/>
          </a:xfrm>
          <a:prstGeom prst="bentConnector3">
            <a:avLst/>
          </a:prstGeom>
          <a:ln w="3175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Columns of A are where e₁ and e₂ land.   det(A) = the area-scaling factor.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Eigenvectors · directions A leaves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Av = λv  —  the equation that unlocks PCA, PageRank, 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74552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onsolas"/>
              </a:rPr>
              <a:t>A v  =  λ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5486400" cy="3657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D8BFD"/>
                </a:solidFill>
                <a:latin typeface="Calibri"/>
              </a:rPr>
              <a:t>Most vectors rotate when you apply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017520" y="3200400"/>
            <a:ext cx="0" cy="22860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17520" y="5486400"/>
            <a:ext cx="27432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17520" y="4572000"/>
            <a:ext cx="1280160" cy="9144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017520" y="4937760"/>
            <a:ext cx="1828800" cy="548640"/>
          </a:xfrm>
          <a:prstGeom prst="bentConnector3">
            <a:avLst/>
          </a:prstGeom>
          <a:ln w="31750">
            <a:solidFill>
              <a:srgbClr val="3D8BF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0" y="4297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B4C8"/>
                </a:solidFill>
                <a:latin typeface="Calibri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617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Av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606040"/>
            <a:ext cx="5486400" cy="3657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3E00"/>
                </a:solidFill>
                <a:latin typeface="Calibri"/>
              </a:rPr>
              <a:t>Eigenvectors only stretch (or flip)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778240" y="3200400"/>
            <a:ext cx="0" cy="22860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78240" y="5486400"/>
            <a:ext cx="27432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78240" y="4389120"/>
            <a:ext cx="1097280" cy="1097280"/>
          </a:xfrm>
          <a:prstGeom prst="bentConnector3">
            <a:avLst/>
          </a:prstGeom>
          <a:ln w="3175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78240" y="3474720"/>
            <a:ext cx="2011680" cy="2011680"/>
          </a:xfrm>
          <a:prstGeom prst="bentConnector3">
            <a:avLst/>
          </a:prstGeom>
          <a:ln w="44450">
            <a:solidFill>
              <a:srgbClr val="C831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875520" y="4069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1546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3100"/>
                </a:solidFill>
                <a:latin typeface="Calibri"/>
              </a:rPr>
              <a:t>λv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PCA  =  eigendecomposition of the covariance matrix 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Gradients · the direction of steepest ascent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∇f points uphill — gradient descent goes the other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4008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Contours of f(x, y) = x² + 3y²</a:t>
            </a:r>
          </a:p>
        </p:txBody>
      </p:sp>
      <p:sp>
        <p:nvSpPr>
          <p:cNvPr id="8" name="Oval 7"/>
          <p:cNvSpPr/>
          <p:nvPr/>
        </p:nvSpPr>
        <p:spPr>
          <a:xfrm>
            <a:off x="3291840" y="3803904"/>
            <a:ext cx="731520" cy="438912"/>
          </a:xfrm>
          <a:prstGeom prst="ellipse">
            <a:avLst/>
          </a:prstGeom>
          <a:noFill/>
          <a:ln w="12700">
            <a:solidFill>
              <a:srgbClr val="AA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34640" y="3529584"/>
            <a:ext cx="1645920" cy="987552"/>
          </a:xfrm>
          <a:prstGeom prst="ellipse">
            <a:avLst/>
          </a:prstGeom>
          <a:noFill/>
          <a:ln w="12700">
            <a:solidFill>
              <a:srgbClr val="AA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77440" y="3255264"/>
            <a:ext cx="2560320" cy="1536192"/>
          </a:xfrm>
          <a:prstGeom prst="ellipse">
            <a:avLst/>
          </a:prstGeom>
          <a:noFill/>
          <a:ln w="12700">
            <a:solidFill>
              <a:srgbClr val="AA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20240" y="2980945"/>
            <a:ext cx="3474720" cy="2084831"/>
          </a:xfrm>
          <a:prstGeom prst="ellipse">
            <a:avLst/>
          </a:prstGeom>
          <a:noFill/>
          <a:ln w="12700">
            <a:solidFill>
              <a:srgbClr val="AA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63040" y="2706624"/>
            <a:ext cx="4389120" cy="2633472"/>
          </a:xfrm>
          <a:prstGeom prst="ellipse">
            <a:avLst/>
          </a:prstGeom>
          <a:noFill/>
          <a:ln w="12700">
            <a:solidFill>
              <a:srgbClr val="AA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5120640" y="3108960"/>
            <a:ext cx="822960" cy="457200"/>
          </a:xfrm>
          <a:prstGeom prst="bentConnector3">
            <a:avLst/>
          </a:prstGeom>
          <a:ln w="381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0" y="27889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∇f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297680" y="3566160"/>
            <a:ext cx="822960" cy="457200"/>
          </a:xfrm>
          <a:prstGeom prst="bentConnector3">
            <a:avLst/>
          </a:prstGeom>
          <a:ln w="3810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CC070"/>
                </a:solidFill>
                <a:latin typeface="Calibri"/>
              </a:rPr>
              <a:t>−∇f  (descent)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554480"/>
            <a:ext cx="45720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16916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KEY IDENTITIES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240280"/>
            <a:ext cx="42062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∇f  =  [ ∂f/∂x₁ , ∂f/∂x₂ , … ]ᵀ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Steepest-ascent direction.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Update rule (GD):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θ ← θ − η ∇L(θ)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η too small → crawl.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η too big   → divergence.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η just right → glide.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Chain rule · how backprop sees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Compose functions, multiply derivatives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828800" cy="118872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743200"/>
            <a:ext cx="1828800" cy="11887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7432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u = g(x)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743200"/>
            <a:ext cx="1828800" cy="11887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7432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v = h(u)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743200"/>
            <a:ext cx="1828800" cy="118872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74320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1826"/>
                </a:solidFill>
                <a:latin typeface="Consolas"/>
              </a:rPr>
              <a:t>L = ℓ(v)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3337560.0"/>
            <a:ext cx="777240" cy="0.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74920" y="3337560.0"/>
            <a:ext cx="777240" cy="0.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3337560.0"/>
            <a:ext cx="777240" cy="0.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4572000"/>
            <a:ext cx="11274552" cy="14630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onsolas"/>
              </a:rPr>
              <a:t>dL/dx  =  dL/dv · dv/du · du/dx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AAB4C8"/>
                </a:solidFill>
                <a:latin typeface="Calibri"/>
              </a:rPr>
              <a:t>Backprop = repeated chain rule across every layer of a network.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The Fundamental ML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16 –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Loss functions · what "good" means to the optimiser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Change the loss → change what the model learns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73"/>
                <a:gridCol w="3382365"/>
                <a:gridCol w="2254910"/>
                <a:gridCol w="4134002"/>
              </a:tblGrid>
              <a:tr h="627017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Property to know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2701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MSE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(1/n) Σ (yᵢ − ŷᵢ)²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Penalises large errors quadratically; sensitive to outliers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2701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(1/n) Σ |yᵢ − ŷᵢ|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Median-seeking; robust to outliers; non-smooth at 0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2701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Huber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Quadratic near 0, linear far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Regression w/ outliers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Hybrid — differentiable, robust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2701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Binary cross-entropy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−[ y log p + (1−y) log(1−p) ]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Binary classification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MLE under Bernoulli model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27017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Categorical 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−Σ yₖ log pₖ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Multi-class classification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MLE under multinomial; softmax pairs naturally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2701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Hinge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max(0, 1 − y · f(x))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SVMs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Margin-based; ignores correctly-classified points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The choice of loss IS a modelling decision — not just an implementation detail.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Gradient descent · the engine under almost every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1-D parabola — three learning rates, three fates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14400" y="1645920"/>
            <a:ext cx="0" cy="420624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5852160"/>
            <a:ext cx="105156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66160" y="2194560"/>
            <a:ext cx="64008" cy="18059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30168" y="2375154"/>
            <a:ext cx="64009" cy="17602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94177" y="2551176"/>
            <a:ext cx="64007" cy="17145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58184" y="2722626"/>
            <a:ext cx="64008" cy="16687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22192" y="2889504"/>
            <a:ext cx="64009" cy="16230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86201" y="3051810"/>
            <a:ext cx="64007" cy="15773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50208" y="3209545"/>
            <a:ext cx="64009" cy="15316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14217" y="3362707"/>
            <a:ext cx="64008" cy="14858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78225" y="3511296"/>
            <a:ext cx="64007" cy="14401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42232" y="3655314"/>
            <a:ext cx="64009" cy="13944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06241" y="3794760"/>
            <a:ext cx="64008" cy="13487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70249" y="3929634"/>
            <a:ext cx="64008" cy="13030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34257" y="4059937"/>
            <a:ext cx="64007" cy="12572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98264" y="4185666"/>
            <a:ext cx="64009" cy="12115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62273" y="4306824"/>
            <a:ext cx="64007" cy="11658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26280" y="4423410"/>
            <a:ext cx="64008" cy="11201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90288" y="4535424"/>
            <a:ext cx="64008" cy="10744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54296" y="4642867"/>
            <a:ext cx="64008" cy="10286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18304" y="4745736"/>
            <a:ext cx="64008" cy="9829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82312" y="4844034"/>
            <a:ext cx="64008" cy="9372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46320" y="4937760"/>
            <a:ext cx="64009" cy="8915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10329" y="5026914"/>
            <a:ext cx="64008" cy="8458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74337" y="5111497"/>
            <a:ext cx="64007" cy="8000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38344" y="5191506"/>
            <a:ext cx="64009" cy="7543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02353" y="5266944"/>
            <a:ext cx="64008" cy="7086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66361" y="5337810"/>
            <a:ext cx="64008" cy="6629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230369" y="5404105"/>
            <a:ext cx="64008" cy="6172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94377" y="5465827"/>
            <a:ext cx="64007" cy="5714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358384" y="5522976"/>
            <a:ext cx="64008" cy="5257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22392" y="5575554"/>
            <a:ext cx="64008" cy="4800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86400" y="5623560"/>
            <a:ext cx="64009" cy="4343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50409" y="5666995"/>
            <a:ext cx="64008" cy="3886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614417" y="5705857"/>
            <a:ext cx="64007" cy="3428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678424" y="5740146"/>
            <a:ext cx="64008" cy="2971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742432" y="5769864"/>
            <a:ext cx="64008" cy="2514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806440" y="5795010"/>
            <a:ext cx="64009" cy="2057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870449" y="5815585"/>
            <a:ext cx="64008" cy="1600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34457" y="5831587"/>
            <a:ext cx="64007" cy="1142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98464" y="5843016"/>
            <a:ext cx="64008" cy="685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62472" y="5849874"/>
            <a:ext cx="64008" cy="228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126480" y="5849875"/>
            <a:ext cx="64007" cy="228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190487" y="5843016"/>
            <a:ext cx="64009" cy="685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254496" y="5831587"/>
            <a:ext cx="64007" cy="1142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318503" y="5815584"/>
            <a:ext cx="64009" cy="1600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382512" y="5795010"/>
            <a:ext cx="64008" cy="2057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46520" y="5769865"/>
            <a:ext cx="64007" cy="2514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510527" y="5740146"/>
            <a:ext cx="64009" cy="2971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574536" y="5705857"/>
            <a:ext cx="64007" cy="3428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38543" y="5666994"/>
            <a:ext cx="64009" cy="3886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702552" y="5623560"/>
            <a:ext cx="64008" cy="4343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766560" y="5575555"/>
            <a:ext cx="64007" cy="4800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830567" y="5522976"/>
            <a:ext cx="64009" cy="5257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894576" y="5465827"/>
            <a:ext cx="64007" cy="5714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958583" y="5404104"/>
            <a:ext cx="64009" cy="6172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022592" y="5337810"/>
            <a:ext cx="64007" cy="6629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086599" y="5266945"/>
            <a:ext cx="64008" cy="7086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150607" y="5191506"/>
            <a:ext cx="64009" cy="7543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214616" y="5111497"/>
            <a:ext cx="64007" cy="8000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278623" y="5026914"/>
            <a:ext cx="64009" cy="8458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342632" y="4937760"/>
            <a:ext cx="64008" cy="8915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406640" y="4844035"/>
            <a:ext cx="64007" cy="9372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470647" y="4745736"/>
            <a:ext cx="64009" cy="9829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534656" y="4642867"/>
            <a:ext cx="64008" cy="10286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598664" y="4535424"/>
            <a:ext cx="64008" cy="10744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662672" y="4423410"/>
            <a:ext cx="64008" cy="11201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726680" y="4306825"/>
            <a:ext cx="64007" cy="11658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790687" y="4185666"/>
            <a:ext cx="64009" cy="12115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854696" y="4059937"/>
            <a:ext cx="64007" cy="12572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918703" y="3929634"/>
            <a:ext cx="64009" cy="13030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982712" y="3794760"/>
            <a:ext cx="64007" cy="13487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046719" y="3655315"/>
            <a:ext cx="64008" cy="13944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110727" y="3511296"/>
            <a:ext cx="64008" cy="14401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174735" y="3362707"/>
            <a:ext cx="64008" cy="14858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238743" y="3209544"/>
            <a:ext cx="64009" cy="153163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302752" y="3051810"/>
            <a:ext cx="64007" cy="15773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366759" y="2889505"/>
            <a:ext cx="64008" cy="162305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430767" y="2722626"/>
            <a:ext cx="64009" cy="16687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494776" y="2551176"/>
            <a:ext cx="64007" cy="17145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558783" y="2375154"/>
            <a:ext cx="64009" cy="17602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622792" y="2194560"/>
            <a:ext cx="64008" cy="18059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3767328" y="2834640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3822192" y="2843784"/>
            <a:ext cx="460858" cy="1066557"/>
          </a:xfrm>
          <a:prstGeom prst="bentConnector3">
            <a:avLst/>
          </a:prstGeom>
          <a:ln w="1905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4228186" y="3901197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4283050" y="3910341"/>
            <a:ext cx="368686" cy="682596"/>
          </a:xfrm>
          <a:prstGeom prst="bentConnector3">
            <a:avLst/>
          </a:prstGeom>
          <a:ln w="1905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4596872" y="4583793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4651736" y="4592937"/>
            <a:ext cx="294949" cy="436861"/>
          </a:xfrm>
          <a:prstGeom prst="bentConnector3">
            <a:avLst/>
          </a:prstGeom>
          <a:ln w="1905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4891821" y="5020654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4946685" y="5029798"/>
            <a:ext cx="235959" cy="279591"/>
          </a:xfrm>
          <a:prstGeom prst="bentConnector3">
            <a:avLst/>
          </a:prstGeom>
          <a:ln w="1905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5127780" y="5300245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5182644" y="5309389"/>
            <a:ext cx="188767" cy="178939"/>
          </a:xfrm>
          <a:prstGeom prst="bentConnector3">
            <a:avLst/>
          </a:prstGeom>
          <a:ln w="1905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5316547" y="5479184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5371411" y="5488328"/>
            <a:ext cx="151014" cy="114520"/>
          </a:xfrm>
          <a:prstGeom prst="bentConnector3">
            <a:avLst/>
          </a:prstGeom>
          <a:ln w="1905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4151377" y="3739896"/>
            <a:ext cx="109728" cy="109728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4206241" y="3749040"/>
            <a:ext cx="1920239" cy="2057400"/>
          </a:xfrm>
          <a:prstGeom prst="bentConnector3">
            <a:avLst/>
          </a:prstGeom>
          <a:ln w="1905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6071616" y="5797296"/>
            <a:ext cx="109728" cy="109728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6126480" y="5806440"/>
            <a:ext cx="0" cy="0"/>
          </a:xfrm>
          <a:prstGeom prst="bentConnector3">
            <a:avLst/>
          </a:prstGeom>
          <a:ln w="1905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6071616" y="5797296"/>
            <a:ext cx="109728" cy="109728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6126480" y="5806440"/>
            <a:ext cx="0" cy="0"/>
          </a:xfrm>
          <a:prstGeom prst="bentConnector3">
            <a:avLst/>
          </a:prstGeom>
          <a:ln w="1905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6071616" y="5797296"/>
            <a:ext cx="109728" cy="109728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6126480" y="5806440"/>
            <a:ext cx="0" cy="0"/>
          </a:xfrm>
          <a:prstGeom prst="bentConnector3">
            <a:avLst/>
          </a:prstGeom>
          <a:ln w="1905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6071616" y="5797296"/>
            <a:ext cx="109728" cy="109728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6126480" y="5806440"/>
            <a:ext cx="0" cy="0"/>
          </a:xfrm>
          <a:prstGeom prst="bentConnector3">
            <a:avLst/>
          </a:prstGeom>
          <a:ln w="1905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6071616" y="5797296"/>
            <a:ext cx="109728" cy="109728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6126480" y="5806440"/>
            <a:ext cx="0" cy="0"/>
          </a:xfrm>
          <a:prstGeom prst="bentConnector3">
            <a:avLst/>
          </a:prstGeom>
          <a:ln w="1905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4535424" y="4480560"/>
            <a:ext cx="109728" cy="109728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 flipV="1">
            <a:off x="4590288" y="4213190"/>
            <a:ext cx="3226003" cy="276514"/>
          </a:xfrm>
          <a:prstGeom prst="bentConnector3">
            <a:avLst/>
          </a:prstGeom>
          <a:ln w="19050">
            <a:solidFill>
              <a:srgbClr val="E04B4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7761427" y="4204046"/>
            <a:ext cx="109728" cy="109728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H="1" flipV="1">
            <a:off x="4267688" y="3878607"/>
            <a:ext cx="3548603" cy="334583"/>
          </a:xfrm>
          <a:prstGeom prst="bentConnector3">
            <a:avLst/>
          </a:prstGeom>
          <a:ln w="19050">
            <a:solidFill>
              <a:srgbClr val="E04B4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4212824" y="3869463"/>
            <a:ext cx="109728" cy="109728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4267688" y="3473762"/>
            <a:ext cx="3903463" cy="404845"/>
          </a:xfrm>
          <a:prstGeom prst="bentConnector3">
            <a:avLst/>
          </a:prstGeom>
          <a:ln w="19050">
            <a:solidFill>
              <a:srgbClr val="E04B4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8116287" y="3464618"/>
            <a:ext cx="109728" cy="109728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 flipH="1" flipV="1">
            <a:off x="3877342" y="2983900"/>
            <a:ext cx="4293809" cy="489862"/>
          </a:xfrm>
          <a:prstGeom prst="bentConnector3">
            <a:avLst/>
          </a:prstGeom>
          <a:ln w="19050">
            <a:solidFill>
              <a:srgbClr val="E04B4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457200" y="1463040"/>
            <a:ext cx="11274552" cy="548640"/>
          </a:xfrm>
          <a:prstGeom prst="roundRect">
            <a:avLst/>
          </a:prstGeom>
          <a:solidFill>
            <a:srgbClr val="1B2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CC070"/>
                </a:solidFill>
                <a:latin typeface="Calibri"/>
              </a:rPr>
              <a:t>η small → crawl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0" y="1463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C042"/>
                </a:solidFill>
                <a:latin typeface="Calibri"/>
              </a:rPr>
              <a:t>η right → glide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95360" y="1463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04B4B"/>
                </a:solidFill>
                <a:latin typeface="Calibri"/>
              </a:rPr>
              <a:t>η big → diverge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AAB4C8"/>
                </a:solidFill>
                <a:latin typeface="Consolas"/>
              </a:rPr>
              <a:t>θ ← θ − η · ∇L(θ)     SGD = one example/batch.   Mini-batch = compromise.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Capacity · the U-shape that every modeller lives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Train error keeps dropping. Test error doesn't.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1828800"/>
            <a:ext cx="0" cy="402336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5852160"/>
            <a:ext cx="987552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0" y="5943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capacity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error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651760"/>
            <a:ext cx="234461" cy="22510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80381" y="2876867"/>
            <a:ext cx="234462" cy="20844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14843" y="3085307"/>
            <a:ext cx="234461" cy="19300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49304" y="3278314"/>
            <a:ext cx="234462" cy="17871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83766" y="3457031"/>
            <a:ext cx="234461" cy="16548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18227" y="3622516"/>
            <a:ext cx="234462" cy="15323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52689" y="3775749"/>
            <a:ext cx="234461" cy="14188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87150" y="3917636"/>
            <a:ext cx="234462" cy="13138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21612" y="4049019"/>
            <a:ext cx="234461" cy="12165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56073" y="4170674"/>
            <a:ext cx="234462" cy="11264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90535" y="4283322"/>
            <a:ext cx="234461" cy="10430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24996" y="4387629"/>
            <a:ext cx="234462" cy="9658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59458" y="4484214"/>
            <a:ext cx="234461" cy="8943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93919" y="4573647"/>
            <a:ext cx="234462" cy="8281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28381" y="4656459"/>
            <a:ext cx="234462" cy="7668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62843" y="4733140"/>
            <a:ext cx="234461" cy="7100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97304" y="4804143"/>
            <a:ext cx="234462" cy="6574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31766" y="4869890"/>
            <a:ext cx="234461" cy="6087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66227" y="4930768"/>
            <a:ext cx="234462" cy="5637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00689" y="4987139"/>
            <a:ext cx="234461" cy="5219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335150" y="5039337"/>
            <a:ext cx="234462" cy="4833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69612" y="5087670"/>
            <a:ext cx="234461" cy="4475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04073" y="5132424"/>
            <a:ext cx="234462" cy="4144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38535" y="5173865"/>
            <a:ext cx="234461" cy="3837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72996" y="5212238"/>
            <a:ext cx="234462" cy="3553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07458" y="5247769"/>
            <a:ext cx="234461" cy="3290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41919" y="5280670"/>
            <a:ext cx="234462" cy="3046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76381" y="5311135"/>
            <a:ext cx="234462" cy="2820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10843" y="5339344"/>
            <a:ext cx="234461" cy="2612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45304" y="5365465"/>
            <a:ext cx="234462" cy="2418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679766" y="5389651"/>
            <a:ext cx="234461" cy="2239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914227" y="5412047"/>
            <a:ext cx="234462" cy="2073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48689" y="5432785"/>
            <a:ext cx="234461" cy="1920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383150" y="5451987"/>
            <a:ext cx="234462" cy="1778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17612" y="5469768"/>
            <a:ext cx="234461" cy="1646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852073" y="5486232"/>
            <a:ext cx="234462" cy="1524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086535" y="5501478"/>
            <a:ext cx="234461" cy="1411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320996" y="5515594"/>
            <a:ext cx="234462" cy="1307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555458" y="5528665"/>
            <a:ext cx="234462" cy="1210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645920" y="3706292"/>
            <a:ext cx="234461" cy="17418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80381" y="3880473"/>
            <a:ext cx="234462" cy="15663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14843" y="4037108"/>
            <a:ext cx="234461" cy="14081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349304" y="4177919"/>
            <a:ext cx="234462" cy="12650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583766" y="4304419"/>
            <a:ext cx="234461" cy="11352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818227" y="4417940"/>
            <a:ext cx="234462" cy="10171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52689" y="4519653"/>
            <a:ext cx="234461" cy="9093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287150" y="4610587"/>
            <a:ext cx="234462" cy="8106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521612" y="4691650"/>
            <a:ext cx="234461" cy="7198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756073" y="4763638"/>
            <a:ext cx="234462" cy="6361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990535" y="4827253"/>
            <a:ext cx="234461" cy="5585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224996" y="4883111"/>
            <a:ext cx="234462" cy="4864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9458" y="4931756"/>
            <a:ext cx="234461" cy="4190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693919" y="4973664"/>
            <a:ext cx="234462" cy="3559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928381" y="5009256"/>
            <a:ext cx="234462" cy="2964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162843" y="5038900"/>
            <a:ext cx="234461" cy="2402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397304" y="5062923"/>
            <a:ext cx="234462" cy="1868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631766" y="5081610"/>
            <a:ext cx="234461" cy="1360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866227" y="5095212"/>
            <a:ext cx="234462" cy="873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00689" y="5103950"/>
            <a:ext cx="234461" cy="406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35150" y="5107591"/>
            <a:ext cx="234462" cy="42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69612" y="5102815"/>
            <a:ext cx="234461" cy="477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04073" y="5093825"/>
            <a:ext cx="234462" cy="899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038535" y="5080736"/>
            <a:ext cx="234461" cy="1308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272996" y="5063652"/>
            <a:ext cx="234462" cy="1708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507458" y="5042662"/>
            <a:ext cx="234461" cy="2099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741919" y="5017846"/>
            <a:ext cx="234462" cy="2481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976381" y="4989274"/>
            <a:ext cx="234462" cy="2857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210843" y="4957006"/>
            <a:ext cx="234461" cy="3226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445304" y="4921097"/>
            <a:ext cx="234462" cy="3590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679766" y="4881595"/>
            <a:ext cx="234461" cy="3950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914227" y="4838541"/>
            <a:ext cx="234462" cy="4305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148689" y="4791972"/>
            <a:ext cx="234461" cy="4656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383150" y="4741920"/>
            <a:ext cx="234462" cy="5005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617612" y="4688413"/>
            <a:ext cx="234461" cy="5350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852073" y="4631478"/>
            <a:ext cx="234462" cy="5693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086535" y="4571135"/>
            <a:ext cx="234461" cy="6034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20996" y="4507404"/>
            <a:ext cx="234462" cy="6373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555458" y="4440302"/>
            <a:ext cx="234462" cy="6710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572000" y="2011680"/>
            <a:ext cx="0" cy="3840480"/>
          </a:xfrm>
          <a:prstGeom prst="line">
            <a:avLst/>
          </a:prstGeom>
          <a:ln w="12700" cap="flat">
            <a:solidFill>
              <a:srgbClr val="AAB4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229600" y="2011680"/>
            <a:ext cx="0" cy="3840480"/>
          </a:xfrm>
          <a:prstGeom prst="line">
            <a:avLst/>
          </a:prstGeom>
          <a:ln w="12700" cap="flat">
            <a:solidFill>
              <a:srgbClr val="AAB4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828800" y="18745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underfit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0" y="18745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sweet spot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0" y="18745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4B4B"/>
                </a:solidFill>
                <a:latin typeface="Calibri"/>
              </a:rPr>
              <a:t>overfit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601200" y="2377440"/>
            <a:ext cx="365760" cy="9144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C070"/>
                </a:solidFill>
                <a:latin typeface="Calibri"/>
              </a:rPr>
              <a:t>train error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01200" y="2697480"/>
            <a:ext cx="365760" cy="9144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58400" y="2606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3E00"/>
                </a:solidFill>
                <a:latin typeface="Calibri"/>
              </a:rPr>
              <a:t>test error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Bias-variance decomposition · the centerpiece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Total expected error breaks into three pieces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74552" cy="12801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onsolas"/>
              </a:rPr>
              <a:t>E[(y − f̂(x))²]   =   Bias(f̂)²   +   Var(f̂)   +   σ²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AB4C8"/>
                </a:solidFill>
                <a:latin typeface="Calibri"/>
              </a:rPr>
              <a:t>(systematic miss)         (instability)        (irreducible noise)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2743200" cy="3200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CC070"/>
                </a:solidFill>
                <a:latin typeface="Calibri"/>
              </a:rPr>
              <a:t>Low bias · Low 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4114800"/>
            <a:ext cx="1645920" cy="1645920"/>
          </a:xfrm>
          <a:prstGeom prst="ellipse">
            <a:avLst/>
          </a:prstGeom>
          <a:solidFill>
            <a:srgbClr val="E04B4B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20" y="4343400"/>
            <a:ext cx="1188720" cy="1188720"/>
          </a:xfrm>
          <a:prstGeom prst="ellipse">
            <a:avLst/>
          </a:prstGeom>
          <a:solidFill>
            <a:srgbClr val="F5C042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45920" y="4572000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47088" y="4773168"/>
            <a:ext cx="329184" cy="329184"/>
          </a:xfrm>
          <a:prstGeom prst="ellipse">
            <a:avLst/>
          </a:prstGeom>
          <a:solidFill>
            <a:srgbClr val="12182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49849" y="4891640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18879" y="4877871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57963" y="4895680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10681" y="4884638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75818" y="4925759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97435" y="4854133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96930" y="4928198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85116" y="4815872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0440" y="3108960"/>
            <a:ext cx="2743200" cy="3200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5C042"/>
                </a:solidFill>
                <a:latin typeface="Calibri"/>
              </a:rPr>
              <a:t>Low bias · High variance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Overfit</a:t>
            </a:r>
          </a:p>
        </p:txBody>
      </p:sp>
      <p:sp>
        <p:nvSpPr>
          <p:cNvPr id="27" name="Oval 26"/>
          <p:cNvSpPr/>
          <p:nvPr/>
        </p:nvSpPr>
        <p:spPr>
          <a:xfrm>
            <a:off x="4069080" y="4114800"/>
            <a:ext cx="1645920" cy="1645920"/>
          </a:xfrm>
          <a:prstGeom prst="ellipse">
            <a:avLst/>
          </a:prstGeom>
          <a:solidFill>
            <a:srgbClr val="E04B4B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97680" y="4343400"/>
            <a:ext cx="1188720" cy="1188720"/>
          </a:xfrm>
          <a:prstGeom prst="ellipse">
            <a:avLst/>
          </a:prstGeom>
          <a:solidFill>
            <a:srgbClr val="F5C042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26280" y="4572000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27448" y="4773168"/>
            <a:ext cx="329184" cy="329184"/>
          </a:xfrm>
          <a:prstGeom prst="ellipse">
            <a:avLst/>
          </a:prstGeom>
          <a:solidFill>
            <a:srgbClr val="12182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89910" y="5222875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49773" y="4967432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86627" y="4528110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937" y="4560699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10558" y="4694123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93423" y="4856514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93674" y="5133388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851165" y="4985522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0" y="3108960"/>
            <a:ext cx="2743200" cy="3200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D8BFD"/>
                </a:solidFill>
                <a:latin typeface="Calibri"/>
              </a:rPr>
              <a:t>High bias · Low variance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Underfit</a:t>
            </a:r>
          </a:p>
        </p:txBody>
      </p:sp>
      <p:sp>
        <p:nvSpPr>
          <p:cNvPr id="42" name="Oval 41"/>
          <p:cNvSpPr/>
          <p:nvPr/>
        </p:nvSpPr>
        <p:spPr>
          <a:xfrm>
            <a:off x="6949440" y="4114800"/>
            <a:ext cx="1645920" cy="1645920"/>
          </a:xfrm>
          <a:prstGeom prst="ellipse">
            <a:avLst/>
          </a:prstGeom>
          <a:solidFill>
            <a:srgbClr val="E04B4B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78040" y="4343400"/>
            <a:ext cx="1188720" cy="1188720"/>
          </a:xfrm>
          <a:prstGeom prst="ellipse">
            <a:avLst/>
          </a:prstGeom>
          <a:solidFill>
            <a:srgbClr val="F5C042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06640" y="4572000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07808" y="4773168"/>
            <a:ext cx="329184" cy="329184"/>
          </a:xfrm>
          <a:prstGeom prst="ellipse">
            <a:avLst/>
          </a:prstGeom>
          <a:solidFill>
            <a:srgbClr val="12182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28982" y="4906663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22773" y="4850441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201825" y="4955417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78790" y="4913299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01990" y="4843346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98151" y="4820018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67974" y="4868325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179722" y="4866293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281160" y="3108960"/>
            <a:ext cx="2743200" cy="3200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04B4B"/>
                </a:solidFill>
                <a:latin typeface="Calibri"/>
              </a:rPr>
              <a:t>High bias · High variance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Worst of both</a:t>
            </a:r>
          </a:p>
        </p:txBody>
      </p:sp>
      <p:sp>
        <p:nvSpPr>
          <p:cNvPr id="57" name="Oval 56"/>
          <p:cNvSpPr/>
          <p:nvPr/>
        </p:nvSpPr>
        <p:spPr>
          <a:xfrm>
            <a:off x="9829800" y="4114800"/>
            <a:ext cx="1645920" cy="1645920"/>
          </a:xfrm>
          <a:prstGeom prst="ellipse">
            <a:avLst/>
          </a:prstGeom>
          <a:solidFill>
            <a:srgbClr val="E04B4B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058400" y="4343400"/>
            <a:ext cx="1188720" cy="1188720"/>
          </a:xfrm>
          <a:prstGeom prst="ellipse">
            <a:avLst/>
          </a:prstGeom>
          <a:solidFill>
            <a:srgbClr val="F5C042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287000" y="4572000"/>
            <a:ext cx="73152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488168" y="4773168"/>
            <a:ext cx="329184" cy="329184"/>
          </a:xfrm>
          <a:prstGeom prst="ellipse">
            <a:avLst/>
          </a:prstGeom>
          <a:solidFill>
            <a:srgbClr val="12182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344443" y="5136960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644014" y="4670549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309498" y="4860942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360768" y="4807860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97045" y="4977594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213112" y="4714483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07363" y="4760430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348857" y="5071657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L1 vs L2 · the geometry of "don't get too big"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Why L1 zeroes coefficients and L2 just shrinks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L1 (Lasso) — ‖β‖₁ ≤ t  → diamond</a:t>
            </a:r>
          </a:p>
        </p:txBody>
      </p:sp>
      <p:sp>
        <p:nvSpPr>
          <p:cNvPr id="8" name="Diamond 7"/>
          <p:cNvSpPr/>
          <p:nvPr/>
        </p:nvSpPr>
        <p:spPr>
          <a:xfrm>
            <a:off x="1920240" y="2743200"/>
            <a:ext cx="2560320" cy="2560320"/>
          </a:xfrm>
          <a:prstGeom prst="diamond">
            <a:avLst/>
          </a:prstGeom>
          <a:solidFill>
            <a:srgbClr val="C83100"/>
          </a:solidFill>
          <a:ln w="25400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3108960"/>
            <a:ext cx="1097280" cy="731520"/>
          </a:xfrm>
          <a:prstGeom prst="ellipse">
            <a:avLst/>
          </a:prstGeom>
          <a:noFill/>
          <a:ln w="15240">
            <a:solidFill>
              <a:srgbClr val="F5F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27248" y="2816352"/>
            <a:ext cx="1975104" cy="1316736"/>
          </a:xfrm>
          <a:prstGeom prst="ellipse">
            <a:avLst/>
          </a:prstGeom>
          <a:noFill/>
          <a:ln w="15240">
            <a:solidFill>
              <a:srgbClr val="F5F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88336" y="2523744"/>
            <a:ext cx="2852928" cy="1901952"/>
          </a:xfrm>
          <a:prstGeom prst="ellipse">
            <a:avLst/>
          </a:prstGeom>
          <a:noFill/>
          <a:ln w="15240">
            <a:solidFill>
              <a:srgbClr val="F5F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3931920"/>
            <a:ext cx="182880" cy="18288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5F6F7"/>
                </a:solidFill>
                <a:latin typeface="Calibri"/>
              </a:rPr>
              <a:t>Optimum touches a CORNER → some coefficient = 0 → sparsity.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L2 (Ridge) — ‖β‖₂ ≤ t  → circle</a:t>
            </a:r>
          </a:p>
        </p:txBody>
      </p:sp>
      <p:sp>
        <p:nvSpPr>
          <p:cNvPr id="16" name="Oval 15"/>
          <p:cNvSpPr/>
          <p:nvPr/>
        </p:nvSpPr>
        <p:spPr>
          <a:xfrm>
            <a:off x="7726680" y="2743200"/>
            <a:ext cx="2560320" cy="2560320"/>
          </a:xfrm>
          <a:prstGeom prst="ellipse">
            <a:avLst/>
          </a:prstGeom>
          <a:solidFill>
            <a:srgbClr val="1E4A8C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3108960"/>
            <a:ext cx="1097280" cy="731520"/>
          </a:xfrm>
          <a:prstGeom prst="ellipse">
            <a:avLst/>
          </a:prstGeom>
          <a:noFill/>
          <a:ln w="15240">
            <a:solidFill>
              <a:srgbClr val="F5F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33688" y="2816352"/>
            <a:ext cx="1975104" cy="1316736"/>
          </a:xfrm>
          <a:prstGeom prst="ellipse">
            <a:avLst/>
          </a:prstGeom>
          <a:noFill/>
          <a:ln w="15240">
            <a:solidFill>
              <a:srgbClr val="F5F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94776" y="2523744"/>
            <a:ext cx="2852928" cy="1901952"/>
          </a:xfrm>
          <a:prstGeom prst="ellipse">
            <a:avLst/>
          </a:prstGeom>
          <a:noFill/>
          <a:ln w="15240">
            <a:solidFill>
              <a:srgbClr val="F5F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21240" y="3566160"/>
            <a:ext cx="182880" cy="18288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54864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5F6F7"/>
                </a:solidFill>
                <a:latin typeface="Calibri"/>
              </a:rPr>
              <a:t>Optimum touches a SMOOTH boundary → coefficients shrink but stay nonzero.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k-fold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Every example is val once, train (k-1) times — k=5 below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F6F7"/>
                </a:solidFill>
                <a:latin typeface="Calibri"/>
              </a:rPr>
              <a:t>Fold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1965960" cy="594360"/>
          </a:xfrm>
          <a:prstGeom prst="rect">
            <a:avLst/>
          </a:prstGeom>
          <a:solidFill>
            <a:srgbClr val="FF3E00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82880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82880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82880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82880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82880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82880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F6F7"/>
                </a:solidFill>
                <a:latin typeface="Calibri"/>
              </a:rPr>
              <a:t>Fold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46888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46888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468880"/>
            <a:ext cx="1965960" cy="594360"/>
          </a:xfrm>
          <a:prstGeom prst="rect">
            <a:avLst/>
          </a:prstGeom>
          <a:solidFill>
            <a:srgbClr val="FF3E00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46888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46888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46888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246888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46888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8320" y="246888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246888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F6F7"/>
                </a:solidFill>
                <a:latin typeface="Calibri"/>
              </a:rPr>
              <a:t>Fold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10896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10896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10896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310896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108960"/>
            <a:ext cx="1965960" cy="594360"/>
          </a:xfrm>
          <a:prstGeom prst="rect">
            <a:avLst/>
          </a:prstGeom>
          <a:solidFill>
            <a:srgbClr val="FF3E00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310896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10896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10896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310896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10896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7490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F6F7"/>
                </a:solidFill>
                <a:latin typeface="Calibri"/>
              </a:rPr>
              <a:t>Fold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74904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74904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74904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374904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374904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0" y="374904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3749040"/>
            <a:ext cx="1965960" cy="594360"/>
          </a:xfrm>
          <a:prstGeom prst="rect">
            <a:avLst/>
          </a:prstGeom>
          <a:solidFill>
            <a:srgbClr val="FF3E00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374904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74904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374904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3891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5F6F7"/>
                </a:solidFill>
                <a:latin typeface="Calibri"/>
              </a:rPr>
              <a:t>Fold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438912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43891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438912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80" y="43891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94960" y="438912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0" y="43891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4389120"/>
            <a:ext cx="1965960" cy="594360"/>
          </a:xfrm>
          <a:prstGeom prst="rect">
            <a:avLst/>
          </a:prstGeom>
          <a:solidFill>
            <a:srgbClr val="1B2336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43891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AB4C8"/>
                </a:solidFill>
                <a:latin typeface="Calibri"/>
              </a:rPr>
              <a:t>train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4389120"/>
            <a:ext cx="1965960" cy="594360"/>
          </a:xfrm>
          <a:prstGeom prst="rect">
            <a:avLst/>
          </a:prstGeom>
          <a:solidFill>
            <a:srgbClr val="FF3E00"/>
          </a:solidFill>
          <a:ln w="9525">
            <a:solidFill>
              <a:srgbClr val="6C7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18320" y="4389120"/>
            <a:ext cx="1965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CV-score  =  mean of the k val-fold scores   (and the SD tells you stability)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AB4C8"/>
                </a:solidFill>
                <a:latin typeface="Calibri"/>
              </a:rPr>
              <a:t>Stratified: preserves class ratios per fold (use for classification).</a:t>
            </a:r>
          </a:p>
          <a:p>
            <a:pPr algn="ctr"/>
            <a:r>
              <a:rPr sz="1300" b="0">
                <a:solidFill>
                  <a:srgbClr val="AAB4C8"/>
                </a:solidFill>
                <a:latin typeface="Calibri"/>
              </a:rPr>
              <a:t>Time-series: rolling windows, no future-into-past leakage.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 leakage · the silent killer of holdouts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Test info leaking into train → optimistic, unreproducible scores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975"/>
                <a:gridCol w="4831950"/>
                <a:gridCol w="4026625"/>
              </a:tblGrid>
              <a:tr h="65314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 of leakage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happens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Target leakage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Feature is computed using future / label-derived info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Audit every feature for time-of-knowledge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Train-test contamination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Imputation / scaling fit on full data, then split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Fit transformers on train only; reuse on test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Group leakage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Same user / patient / device in both train and val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GroupKFold; split by entity, not by row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Time leakage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Random split when data is temporal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TimeSeriesSplit; train past → predict future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Duplicate rows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Same record appears in train and test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Dedupe before split; track join keys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Tuning leakage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Test set touched during HPO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Three-way split or nested CV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23 –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Missing data taxonomy · MCAR / MAR / MNAR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The mechanism dictates the legal imputation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49039" cy="54864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CC070"/>
                </a:solidFill>
                <a:latin typeface="Calibri"/>
              </a:rPr>
              <a:t>Missing Completely At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3832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Missingness is independent of all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Sensor power blip drops 1% of 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Drop rows OR simple impute — both unbiased.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79" y="1554480"/>
            <a:ext cx="3749039" cy="54864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155448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21826"/>
                </a:solidFill>
                <a:latin typeface="Calibri"/>
              </a:rPr>
              <a:t>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1945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C042"/>
                </a:solidFill>
                <a:latin typeface="Calibri"/>
              </a:rPr>
              <a:t>Missing At 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651760"/>
            <a:ext cx="33832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92608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Missingness depends on OBSERVED variables only.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9319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20624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Older respondents skip the income question.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21208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WHAT TO 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548640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Impute using observed features (KNN / MICE).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8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8" y="1554480"/>
            <a:ext cx="3749039" cy="54864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8" y="155448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MNAR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21945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4B4B"/>
                </a:solidFill>
                <a:latin typeface="Calibri"/>
              </a:rPr>
              <a:t>Missing Not At Random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8" y="2651760"/>
            <a:ext cx="33832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292608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Missingness depends on the UNOBSERVED value itself.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39319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420624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High earners refuse to disclose income.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521208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WHAT TO 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548640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Hard — model the missingness or accept bias.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Categorical encoding · a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Cardinality drives the choice — not personal preference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200400" cy="73152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Categorical 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651760"/>
            <a:ext cx="3200400" cy="640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6F7"/>
                </a:solidFill>
                <a:latin typeface="Calibri"/>
              </a:rPr>
              <a:t>Is the order meaningful?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72200" y="2286000"/>
            <a:ext cx="0" cy="36576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3657600"/>
            <a:ext cx="3200400" cy="2468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200400" cy="4572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ORDINAL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2834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size = {S, M, L, XL}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→ {0, 1, 2, 3}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Map to integers in their natural order. The model can exploit monotonicity.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286000" y="2971800"/>
            <a:ext cx="2286000" cy="685800"/>
          </a:xfrm>
          <a:prstGeom prst="bentConnector3">
            <a:avLst/>
          </a:prstGeom>
          <a:ln w="2540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95360" y="3657600"/>
            <a:ext cx="3200400" cy="640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6576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6F7"/>
                </a:solidFill>
                <a:latin typeface="Calibri"/>
              </a:rPr>
              <a:t>How many levels?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2971800"/>
            <a:ext cx="2286000" cy="68580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4663440"/>
            <a:ext cx="3749039" cy="15544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D8BFD"/>
                </a:solidFill>
                <a:latin typeface="Calibri"/>
              </a:rPr>
              <a:t>Low  (≤ 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One-Hot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406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Adds k or k−1 columns.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Clean, no false ordering.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663440"/>
            <a:ext cx="3749039" cy="15544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754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D8BFD"/>
                </a:solidFill>
                <a:latin typeface="Calibri"/>
              </a:rPr>
              <a:t>Mid  (~50)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029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Target / Frequency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4406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Replace category with mean(y|cat).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Guard against leakage with CV.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663440"/>
            <a:ext cx="3749039" cy="15544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754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D8BFD"/>
                </a:solidFill>
                <a:latin typeface="Calibri"/>
              </a:rPr>
              <a:t>High (&gt;100)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029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Hashing / Embedding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4406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Hashing → fixed-width, lossy.</a:t>
            </a:r>
          </a:p>
          <a:p>
            <a:pPr algn="l"/>
            <a:r>
              <a:rPr sz="1100" b="0">
                <a:solidFill>
                  <a:srgbClr val="F5F6F7"/>
                </a:solidFill>
                <a:latin typeface="Calibri"/>
              </a:rPr>
              <a:t>Embedding → learn dense rep.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377440" y="4297680"/>
            <a:ext cx="6766560" cy="365760"/>
          </a:xfrm>
          <a:prstGeom prst="bentConnector3">
            <a:avLst/>
          </a:prstGeom>
          <a:ln w="25400">
            <a:solidFill>
              <a:srgbClr val="3D8BF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217920" y="4297680"/>
            <a:ext cx="3840480" cy="365760"/>
          </a:xfrm>
          <a:prstGeom prst="bentConnector3">
            <a:avLst/>
          </a:prstGeom>
          <a:ln w="25400">
            <a:solidFill>
              <a:srgbClr val="3D8BF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058400" y="4297680"/>
            <a:ext cx="914400" cy="365760"/>
          </a:xfrm>
          <a:prstGeom prst="bentConnector3">
            <a:avLst/>
          </a:prstGeom>
          <a:ln w="25400">
            <a:solidFill>
              <a:srgbClr val="3D8BF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Numerical transforms · when to use which scaler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Algorithm + distribution + outliers → choice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2562398"/>
                <a:gridCol w="3843597"/>
                <a:gridCol w="2989464"/>
              </a:tblGrid>
              <a:tr h="5715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Transform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Good when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Bad when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StandardScaler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(x − μ) / σ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~Normal, distance-based models (KNN, SVM, k-means, NN)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Heavy outliers (μ, σ blown out)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MinMaxScaler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(x − min) / (max − min)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Bounded inputs needed (e.g. images, NN sigmoid)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Outliers compress the rest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RobustScaler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(x − median) / IQR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Outliers present; want centred features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When you want strict [0,1] bounds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Log / log1p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log(1 + x)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Right-skewed, positive, multiplicative effects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Negative or zero-heavy data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Box-Cox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(xλ − 1) / λ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Want optimal power transform to normal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x must be strictly positive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Yeo-Johnson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Generalised Box-Cox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Box-Cox but with negatives allowed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When simpler scaler suffices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 scaling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Trees, GBDT — split rule is scale-invariant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Distance/coefficient-based models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Outlier detection · four lenses, four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No single method is right — combine them, then investigate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880"/>
                <a:gridCol w="3340608"/>
                <a:gridCol w="2923032"/>
                <a:gridCol w="2923032"/>
              </a:tblGrid>
              <a:tr h="7620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checks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Assumes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Watch out for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7620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z-score (|z| &gt; 3)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Standard deviations from mean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Approximate normality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Skewed data; μ, σ contaminated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7620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IQR rule (Tukey)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Below Q1 − 1.5·IQR or above Q3 + 1.5·IQR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Robust quartiles available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Multimodal distributions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7620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Mahalanobis distance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Distance accounting for covariance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Multivariate normal-ish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Singular covariance with correlated features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7620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Few splits to isolate → anomaly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Anomalies are rare and different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Needs tuning of contamination rate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7620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DBSCAN noise points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Points outside any dense cluster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Density structure exists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Hyperparameter (ε, minPts) sensitivity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An outlier is a question, not an answer — investigate before deleting.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Cyclical features · the sin/cos trick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Hour 23 and hour 0 are close. Integers say they're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D8BFD"/>
                </a:solidFill>
                <a:latin typeface="Calibri"/>
              </a:rPr>
              <a:t>Hours-of-day mapped to the unit circle</a:t>
            </a:r>
          </a:p>
        </p:txBody>
      </p:sp>
      <p:sp>
        <p:nvSpPr>
          <p:cNvPr id="8" name="Oval 7"/>
          <p:cNvSpPr/>
          <p:nvPr/>
        </p:nvSpPr>
        <p:spPr>
          <a:xfrm>
            <a:off x="1737360" y="2651760"/>
            <a:ext cx="2926080" cy="2926080"/>
          </a:xfrm>
          <a:prstGeom prst="ellipse">
            <a:avLst/>
          </a:prstGeom>
          <a:solidFill>
            <a:srgbClr val="12182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54680" y="2606040"/>
            <a:ext cx="91440" cy="914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240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3E00"/>
                </a:solidFill>
                <a:latin typeface="Calibri"/>
              </a:rPr>
              <a:t>0</a:t>
            </a:r>
          </a:p>
        </p:txBody>
      </p:sp>
      <p:sp>
        <p:nvSpPr>
          <p:cNvPr id="11" name="Oval 10"/>
          <p:cNvSpPr/>
          <p:nvPr/>
        </p:nvSpPr>
        <p:spPr>
          <a:xfrm>
            <a:off x="3533342" y="26558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86199" y="2802051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89205" y="3034555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21709" y="333756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67868" y="369041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4069080"/>
            <a:ext cx="91440" cy="914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977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3E00"/>
                </a:solidFill>
                <a:latin typeface="Calibri"/>
              </a:rP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4567868" y="444774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21709" y="4800599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89205" y="5103605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86199" y="5336109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3342" y="548226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54680" y="5532120"/>
            <a:ext cx="91440" cy="914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5715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3E00"/>
                </a:solidFill>
                <a:latin typeface="Calibri"/>
              </a:rPr>
              <a:t>12</a:t>
            </a:r>
          </a:p>
        </p:txBody>
      </p:sp>
      <p:sp>
        <p:nvSpPr>
          <p:cNvPr id="25" name="Oval 24"/>
          <p:cNvSpPr/>
          <p:nvPr/>
        </p:nvSpPr>
        <p:spPr>
          <a:xfrm>
            <a:off x="2776018" y="548226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23160" y="5336109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20155" y="5103605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87651" y="48006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41492" y="444774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91640" y="4069080"/>
            <a:ext cx="91440" cy="9144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3977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3E00"/>
                </a:solidFill>
                <a:latin typeface="Calibri"/>
              </a:rPr>
              <a:t>18</a:t>
            </a:r>
          </a:p>
        </p:txBody>
      </p:sp>
      <p:sp>
        <p:nvSpPr>
          <p:cNvPr id="32" name="Oval 31"/>
          <p:cNvSpPr/>
          <p:nvPr/>
        </p:nvSpPr>
        <p:spPr>
          <a:xfrm>
            <a:off x="1741492" y="369041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87651" y="333756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20155" y="3034555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23160" y="2802051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76018" y="26558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1554480"/>
            <a:ext cx="54864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ENCODING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1945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sin_h  =  sin(2π · h / 24)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cos_h  =  cos(2π · h / 24)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Why two columns?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Either one alone is two-to-one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(e.g. sin(π/4) = sin(3π/4)).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Use also for: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• day of week  (period 7)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• month        (period 12)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onsolas"/>
              </a:rPr>
              <a:t>• day of year  (period 365)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Feature selection · three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Filter / Wrapper / Embedded — different cost, different fidelity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49039" cy="50292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Score features independently of any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3832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Correlation w/ target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Mutual information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χ² for categorical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Variance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CC070"/>
                </a:solidFill>
                <a:latin typeface="Calibri"/>
              </a:rPr>
              <a:t>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Fast, model-agnostic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4B4B"/>
                </a:solidFill>
                <a:latin typeface="Calibri"/>
              </a:rPr>
              <a:t>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Ignores interactions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554480"/>
            <a:ext cx="3749039" cy="50292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21826"/>
                </a:solidFill>
                <a:latin typeface="Calibri"/>
              </a:rPr>
              <a:t>WRAPPER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19456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Train a model on subsets, optimise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926080"/>
            <a:ext cx="33832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Recursive feat. elim. (RFE)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Forward / backward selection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Sequential feat.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93776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CC070"/>
                </a:solidFill>
                <a:latin typeface="Calibri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521208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Accurate, model-aware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566928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4B4B"/>
                </a:solidFill>
                <a:latin typeface="Calibri"/>
              </a:rPr>
              <a:t>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594360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Expensive; risk of overfitting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8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58" y="1554480"/>
            <a:ext cx="3749039" cy="50292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8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EMBEDDED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8" y="2194560"/>
            <a:ext cx="3383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Selection happens inside model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2926080"/>
            <a:ext cx="33832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L1-penalised regression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Tree feature importances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Boosting gain / weight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493776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CC070"/>
                </a:solidFill>
                <a:latin typeface="Calibri"/>
              </a:rPr>
              <a:t>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8" y="521208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Good cost / quality balance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566928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4B4B"/>
                </a:solidFill>
                <a:latin typeface="Calibri"/>
              </a:rPr>
              <a:t>CON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5943600"/>
            <a:ext cx="3383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Selection ties to one model 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29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Training-serving skew · why feature stores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Same logic, two places — drift apart and predictions 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2011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TRAINING (batch, Spark)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1371600" cy="548640"/>
          </a:xfrm>
          <a:prstGeom prst="rect">
            <a:avLst/>
          </a:prstGeom>
          <a:solidFill>
            <a:srgbClr val="12182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Raw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57400" y="2560320"/>
            <a:ext cx="274320" cy="0"/>
          </a:xfrm>
          <a:prstGeom prst="bentConnector3">
            <a:avLst/>
          </a:prstGeom>
          <a:ln w="25400">
            <a:solidFill>
              <a:srgbClr val="3D8BF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377440" y="2286000"/>
            <a:ext cx="1828800" cy="548640"/>
          </a:xfrm>
          <a:prstGeom prst="rect">
            <a:avLst/>
          </a:prstGeom>
          <a:solidFill>
            <a:srgbClr val="12182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286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transform_v1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51960" y="2560320"/>
            <a:ext cx="274320" cy="0"/>
          </a:xfrm>
          <a:prstGeom prst="bentConnector3">
            <a:avLst/>
          </a:prstGeom>
          <a:ln w="25400">
            <a:solidFill>
              <a:srgbClr val="3D8BF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0" y="2286000"/>
            <a:ext cx="1280160" cy="548640"/>
          </a:xfrm>
          <a:prstGeom prst="rect">
            <a:avLst/>
          </a:prstGeom>
          <a:solidFill>
            <a:srgbClr val="12182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Heavy windows, joins, aggregates over 90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5486400" cy="2011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21826"/>
                </a:solidFill>
                <a:latin typeface="Calibri"/>
              </a:rPr>
              <a:t>SERVING (real-time, pandas / API)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1371600" cy="548640"/>
          </a:xfrm>
          <a:prstGeom prst="rect">
            <a:avLst/>
          </a:prstGeom>
          <a:solidFill>
            <a:srgbClr val="12182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Live event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57400" y="4754880"/>
            <a:ext cx="274320" cy="0"/>
          </a:xfrm>
          <a:prstGeom prst="bentConnector3">
            <a:avLst/>
          </a:prstGeom>
          <a:ln w="2540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377440" y="4480560"/>
            <a:ext cx="1828800" cy="548640"/>
          </a:xfrm>
          <a:prstGeom prst="rect">
            <a:avLst/>
          </a:prstGeom>
          <a:solidFill>
            <a:srgbClr val="12182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44805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transform_v1.1?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51960" y="4754880"/>
            <a:ext cx="274320" cy="0"/>
          </a:xfrm>
          <a:prstGeom prst="bentConnector3">
            <a:avLst/>
          </a:prstGeom>
          <a:ln w="2540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572000" y="4480560"/>
            <a:ext cx="1280160" cy="548640"/>
          </a:xfrm>
          <a:prstGeom prst="rect">
            <a:avLst/>
          </a:prstGeom>
          <a:solidFill>
            <a:srgbClr val="12182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48056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features?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Re-implemented by another team, in another language.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645920"/>
            <a:ext cx="5486400" cy="42062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THE SKEW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28600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Same feature, two implementations.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Training uses 90-day average; serving rolls 30 days.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Training imputes nulls with mean; serving drops them.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Result: model sees a different distribution at predict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time than at fit time — accuracy collapses silently.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FEATURE STORE FIX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one definition of each feature, versioned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offline (Delta) and online (low-latency) views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point-in-time joins for training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same logic served from the same code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30 → Part 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Supervised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31 –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Linear regression · the OLS normal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 closed-form solution that every later model imitates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74552" cy="14630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4552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nsolas"/>
              </a:rPr>
              <a:t>β̂  =  (XᵀX)⁻¹ Xᵀ 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2697480" cy="14630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D8BFD"/>
                </a:solidFill>
                <a:latin typeface="Calibri"/>
              </a:rPr>
              <a:t>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L(β) = ‖y − Xβ‖²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291840"/>
            <a:ext cx="2697480" cy="14630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3832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D8BFD"/>
                </a:solidFill>
                <a:latin typeface="Calibri"/>
              </a:rPr>
              <a:t>Gradient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79476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∇L  =  −2 Xᵀ (y − Xβ)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91840"/>
            <a:ext cx="2697480" cy="14630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3832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D8BFD"/>
                </a:solidFill>
                <a:latin typeface="Calibri"/>
              </a:rPr>
              <a:t>Set to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79476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Xᵀ X β  =  Xᵀ 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291840"/>
            <a:ext cx="2697480" cy="14630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33832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D8BFD"/>
                </a:solidFill>
                <a:latin typeface="Calibri"/>
              </a:rPr>
              <a:t>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79476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β̂  =  (XᵀX)⁻¹ Xᵀ 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1274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ASSUMPTIONS:  linearity · independent errors · homoscedasticity · normal residuals · no perfect multicollinearity.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WHEN IT BREAKS:  XᵀX singular  →  use ridge ( + λI )  or SVD-based pseudoinverse.   For large n, prefer iterative solvers (SGD).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Logistic regression · log-odds and the sigmoid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 linear model on the log-odds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logit(p)  =  log( p / (1 − p) )  =  βᵀx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p  =  σ(βᵀx)  =  1 / (1 + e^(−βᵀx))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86400" cy="24231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DECISION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p = 0.5   ⇔   βᵀx = 0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That is the equation of a HYPERPLANE.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Logistic regression is a linear classifier —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non-linear behaviour only via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onsolas"/>
              </a:rPr>
              <a:t>σ(z) = 1 / (1 + e^(−z))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858000" y="2286000"/>
            <a:ext cx="0" cy="36576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12280" y="4480560"/>
            <a:ext cx="461772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55080" y="2834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389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852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949440" y="5934919"/>
            <a:ext cx="54401" cy="122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003841" y="5933499"/>
            <a:ext cx="54401" cy="142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58242" y="5931849"/>
            <a:ext cx="54401" cy="165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112643" y="5929930"/>
            <a:ext cx="54401" cy="19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167044" y="5927699"/>
            <a:ext cx="54401" cy="223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1445" y="5925107"/>
            <a:ext cx="54401" cy="259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75846" y="5922095"/>
            <a:ext cx="54401" cy="301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30247" y="5918596"/>
            <a:ext cx="54401" cy="349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384648" y="5914534"/>
            <a:ext cx="54401" cy="406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39049" y="5909819"/>
            <a:ext cx="54401" cy="471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493450" y="5904349"/>
            <a:ext cx="54401" cy="547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547851" y="5898008"/>
            <a:ext cx="54401" cy="634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602252" y="5890660"/>
            <a:ext cx="54401" cy="734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656653" y="5882152"/>
            <a:ext cx="54401" cy="850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11054" y="5872310"/>
            <a:ext cx="54401" cy="984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765455" y="5860936"/>
            <a:ext cx="54401" cy="1137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819856" y="5847806"/>
            <a:ext cx="54401" cy="1313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874257" y="5832669"/>
            <a:ext cx="54401" cy="1513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928658" y="5815246"/>
            <a:ext cx="54401" cy="1742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983059" y="5795225"/>
            <a:ext cx="54401" cy="2002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037460" y="5772268"/>
            <a:ext cx="54401" cy="2295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091861" y="5746002"/>
            <a:ext cx="54401" cy="2626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146262" y="5716032"/>
            <a:ext cx="54401" cy="2997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200663" y="5681938"/>
            <a:ext cx="54401" cy="3409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255064" y="5643287"/>
            <a:ext cx="54401" cy="3865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309465" y="5599638"/>
            <a:ext cx="54401" cy="4364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363866" y="5550563"/>
            <a:ext cx="54401" cy="4907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418267" y="5495659"/>
            <a:ext cx="54401" cy="5490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472668" y="5434574"/>
            <a:ext cx="54401" cy="6108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527069" y="5367027"/>
            <a:ext cx="54401" cy="6754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581470" y="5292842"/>
            <a:ext cx="54401" cy="7418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635871" y="5211973"/>
            <a:ext cx="54401" cy="8086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690272" y="5124533"/>
            <a:ext cx="54401" cy="8744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744673" y="5030815"/>
            <a:ext cx="54401" cy="9371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799074" y="4931311"/>
            <a:ext cx="54401" cy="9950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853475" y="4826716"/>
            <a:ext cx="54401" cy="10459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907876" y="4717920"/>
            <a:ext cx="54401" cy="10879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62277" y="4605985"/>
            <a:ext cx="54401" cy="11193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016678" y="4492108"/>
            <a:ext cx="54401" cy="11387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071079" y="4377573"/>
            <a:ext cx="54401" cy="11453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125480" y="4263696"/>
            <a:ext cx="54401" cy="11387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179881" y="4151761"/>
            <a:ext cx="54401" cy="11193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234282" y="4042965"/>
            <a:ext cx="54401" cy="10879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288683" y="3938370"/>
            <a:ext cx="54401" cy="10459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343084" y="3838866"/>
            <a:ext cx="54401" cy="9950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397485" y="3745148"/>
            <a:ext cx="54401" cy="9371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451886" y="3657708"/>
            <a:ext cx="54401" cy="8744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506287" y="3576839"/>
            <a:ext cx="54401" cy="8086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560688" y="3502654"/>
            <a:ext cx="54401" cy="7418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615089" y="3435107"/>
            <a:ext cx="54401" cy="6754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669490" y="3374022"/>
            <a:ext cx="54401" cy="6108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723891" y="3319118"/>
            <a:ext cx="54401" cy="5490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778292" y="3270043"/>
            <a:ext cx="54401" cy="4907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32693" y="3226394"/>
            <a:ext cx="54401" cy="4364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887094" y="3187743"/>
            <a:ext cx="54401" cy="3865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1495" y="3153649"/>
            <a:ext cx="54401" cy="3409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95896" y="3123679"/>
            <a:ext cx="54401" cy="2997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50297" y="3097413"/>
            <a:ext cx="54401" cy="2626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104698" y="3074456"/>
            <a:ext cx="54401" cy="2295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159099" y="3054435"/>
            <a:ext cx="54401" cy="2002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213500" y="3037012"/>
            <a:ext cx="54401" cy="1742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267901" y="3021875"/>
            <a:ext cx="54401" cy="1513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322302" y="3008745"/>
            <a:ext cx="54401" cy="1313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376703" y="2997371"/>
            <a:ext cx="54401" cy="1137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431104" y="2987529"/>
            <a:ext cx="54401" cy="984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485505" y="2979021"/>
            <a:ext cx="54401" cy="850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539906" y="2971673"/>
            <a:ext cx="54401" cy="734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594307" y="2965332"/>
            <a:ext cx="54401" cy="634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648708" y="2959862"/>
            <a:ext cx="54401" cy="547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703109" y="2955147"/>
            <a:ext cx="54401" cy="471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757510" y="2951085"/>
            <a:ext cx="54401" cy="406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811911" y="2947586"/>
            <a:ext cx="54401" cy="349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866312" y="2944574"/>
            <a:ext cx="54401" cy="301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920713" y="2941982"/>
            <a:ext cx="54401" cy="259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975114" y="2939751"/>
            <a:ext cx="54401" cy="223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1029515" y="2937832"/>
            <a:ext cx="54401" cy="19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083916" y="2936182"/>
            <a:ext cx="54401" cy="165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1138317" y="2934762"/>
            <a:ext cx="54401" cy="142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192718" y="2933542"/>
            <a:ext cx="54402" cy="122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858000" y="4480560"/>
            <a:ext cx="4480560" cy="0"/>
          </a:xfrm>
          <a:prstGeom prst="line">
            <a:avLst/>
          </a:prstGeom>
          <a:ln w="19050" cap="flat">
            <a:solidFill>
              <a:srgbClr val="FF3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Decision tree · split impurity-greedy, recurse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Gini and entropy disagree on tails but agree on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85800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D8BFD"/>
                </a:solidFill>
                <a:latin typeface="Calibri"/>
              </a:rPr>
              <a:t>Recursive binary splits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1828800" cy="64008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income ≤ 50k?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74720"/>
            <a:ext cx="1828800" cy="640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age ≤ 30?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474720"/>
            <a:ext cx="1828800" cy="640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4747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balance ≤ 5k?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754880"/>
            <a:ext cx="1188720" cy="548640"/>
          </a:xfrm>
          <a:prstGeom prst="round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548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754880"/>
            <a:ext cx="1188720" cy="548640"/>
          </a:xfrm>
          <a:prstGeom prst="round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754880"/>
            <a:ext cx="1188720" cy="548640"/>
          </a:xfrm>
          <a:prstGeom prst="round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7548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754880"/>
            <a:ext cx="1188720" cy="548640"/>
          </a:xfrm>
          <a:prstGeom prst="round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7548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default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926080"/>
            <a:ext cx="2286000" cy="54864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14800" y="2926080"/>
            <a:ext cx="1828800" cy="54864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22960" y="4114800"/>
            <a:ext cx="1005840" cy="6400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4114800"/>
            <a:ext cx="640080" cy="6400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754880" y="4114800"/>
            <a:ext cx="1188720" cy="6400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43600" y="4114800"/>
            <a:ext cx="365760" cy="6400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89520" y="1554480"/>
            <a:ext cx="420624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6916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IMPURITY MEASURES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194560"/>
            <a:ext cx="38404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Gini:    1 − Σ pₖ²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Entropy: −Σ pₖ log pₖ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Both are maximised at uniform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and zero at pure nodes.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Choose the split that maximises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  parent_impurity − Σwc · child_impurity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(information gain).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Practical: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control depth / min_samples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prune or use min_impurity_decrease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categorical splits = 2^(k-1) − 1 options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Random forest · bagging + feature randomness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Average many decorrelated trees → variance falls, bias stays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011680" cy="73152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Training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554480"/>
            <a:ext cx="2103120" cy="11887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55448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Bootstrap 1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(rows sampled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with replacement)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148840"/>
            <a:ext cx="64008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60" y="1554480"/>
            <a:ext cx="2103120" cy="11887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55448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Bootstrap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2148840"/>
            <a:ext cx="292608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80960" y="1554480"/>
            <a:ext cx="2103120" cy="11887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554480"/>
            <a:ext cx="21031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Bootstrap 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2148840"/>
            <a:ext cx="521208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041648" y="3172968"/>
            <a:ext cx="237744" cy="23774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11880" y="3566160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3566160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3756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8620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5196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0060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3703320" y="3410712"/>
            <a:ext cx="457200" cy="155448"/>
          </a:xfrm>
          <a:prstGeom prst="line">
            <a:avLst/>
          </a:prstGeom>
          <a:ln w="1270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60520" y="3410712"/>
            <a:ext cx="457200" cy="155448"/>
          </a:xfrm>
          <a:prstGeom prst="line">
            <a:avLst/>
          </a:prstGeom>
          <a:ln w="1270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60520" y="2743200"/>
            <a:ext cx="0" cy="4114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27648" y="3172968"/>
            <a:ext cx="237744" cy="23774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566160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12280" y="3566160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2356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7220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8660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5989320" y="3410712"/>
            <a:ext cx="457200" cy="155448"/>
          </a:xfrm>
          <a:prstGeom prst="line">
            <a:avLst/>
          </a:prstGeom>
          <a:ln w="1270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46520" y="3410712"/>
            <a:ext cx="457200" cy="155448"/>
          </a:xfrm>
          <a:prstGeom prst="line">
            <a:avLst/>
          </a:prstGeom>
          <a:ln w="1270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46520" y="2743200"/>
            <a:ext cx="0" cy="4114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613648" y="3172968"/>
            <a:ext cx="237744" cy="237744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83880" y="3566160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98280" y="3566160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0956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5820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82396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72600" y="4023360"/>
            <a:ext cx="137160" cy="137160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H="1">
            <a:off x="8275320" y="3410712"/>
            <a:ext cx="457200" cy="155448"/>
          </a:xfrm>
          <a:prstGeom prst="line">
            <a:avLst/>
          </a:prstGeom>
          <a:ln w="1270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32520" y="3410712"/>
            <a:ext cx="457200" cy="155448"/>
          </a:xfrm>
          <a:prstGeom prst="line">
            <a:avLst/>
          </a:prstGeom>
          <a:ln w="1270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732520" y="2743200"/>
            <a:ext cx="0" cy="4114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108960" y="4572000"/>
            <a:ext cx="6766560" cy="82296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0" y="457200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Aggregate:  classification → vote;  regression → mean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160520" y="4206240"/>
            <a:ext cx="0" cy="36576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446520" y="4206240"/>
            <a:ext cx="0" cy="36576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732520" y="4206240"/>
            <a:ext cx="0" cy="36576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7200" y="5532120"/>
            <a:ext cx="11274552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5321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6F7"/>
                </a:solidFill>
                <a:latin typeface="Calibri"/>
              </a:rPr>
              <a:t>Two sources of randomness:  (1) bootstrap rows  (2) sample √p features at each split.  Out-of-bag rows give a free CV estimate.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AdaBoost · reweight what the last learner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Three iterations — the data didn't change, the weights did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84048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D8BFD"/>
                </a:solidFill>
                <a:latin typeface="Calibri"/>
              </a:rPr>
              <a:t>Iteration 1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31520" y="2194560"/>
            <a:ext cx="0" cy="36576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5852160"/>
            <a:ext cx="329184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77440" y="2194560"/>
            <a:ext cx="0" cy="3657600"/>
          </a:xfrm>
          <a:prstGeom prst="line">
            <a:avLst/>
          </a:prstGeom>
          <a:ln w="25400" cap="flat">
            <a:solidFill>
              <a:srgbClr val="FF3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98448" y="5404104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56816" y="5285232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16152" y="45720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50592" y="4096513"/>
            <a:ext cx="182880" cy="182880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79776" y="5047488"/>
            <a:ext cx="182880" cy="182880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73552" y="3977640"/>
            <a:ext cx="182880" cy="182880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554480"/>
            <a:ext cx="384048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645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D8BFD"/>
                </a:solidFill>
                <a:latin typeface="Calibri"/>
              </a:rPr>
              <a:t>Iteration 2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663440" y="2194560"/>
            <a:ext cx="0" cy="36576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63440" y="5852160"/>
            <a:ext cx="329184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97880" y="2194560"/>
            <a:ext cx="0" cy="3657600"/>
          </a:xfrm>
          <a:prstGeom prst="line">
            <a:avLst/>
          </a:prstGeom>
          <a:ln w="25400" cap="flat">
            <a:solidFill>
              <a:srgbClr val="FF3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157216" y="5330952"/>
            <a:ext cx="329184" cy="329184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88736" y="5285232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48072" y="45720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82512" y="4096513"/>
            <a:ext cx="182880" cy="182880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38544" y="4974336"/>
            <a:ext cx="329184" cy="329184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05472" y="3977640"/>
            <a:ext cx="182880" cy="182880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1554480"/>
            <a:ext cx="384048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645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D8BFD"/>
                </a:solidFill>
                <a:latin typeface="Calibri"/>
              </a:rPr>
              <a:t>Iteration 3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595360" y="2194560"/>
            <a:ext cx="0" cy="36576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595360" y="5852160"/>
            <a:ext cx="329184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52760" y="2194560"/>
            <a:ext cx="0" cy="3657600"/>
          </a:xfrm>
          <a:prstGeom prst="line">
            <a:avLst/>
          </a:prstGeom>
          <a:ln w="25400" cap="flat">
            <a:solidFill>
              <a:srgbClr val="FF3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162288" y="5404104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20656" y="5285232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06840" y="4498848"/>
            <a:ext cx="329184" cy="329184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14432" y="4096513"/>
            <a:ext cx="182880" cy="182880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43616" y="5047488"/>
            <a:ext cx="182880" cy="182880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64240" y="3904488"/>
            <a:ext cx="329184" cy="329184"/>
          </a:xfrm>
          <a:prstGeom prst="ellipse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B4C8"/>
                </a:solidFill>
                <a:latin typeface="Calibri"/>
              </a:rPr>
              <a:t>After each round, increase weights on misclassified points; train next weak learner; combine with α weights.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Gradient boosting · fit pseudo-residuals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Each tree learns what the previous ensemble got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2240280" cy="18288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onsolas"/>
              </a:rPr>
              <a:t>F₀(x)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init prediction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(e.g. mean ȳ)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194560"/>
            <a:ext cx="2240280" cy="18288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377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onsolas"/>
              </a:rPr>
              <a:t>r₁ = y − F₀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9718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compute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residuals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94560"/>
            <a:ext cx="2240280" cy="18288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377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onsolas"/>
              </a:rPr>
              <a:t>h₁(x)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718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fit tree to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residuals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194560"/>
            <a:ext cx="2240280" cy="18288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377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onsolas"/>
              </a:rPr>
              <a:t>F₁ = F₀ + η h₁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9718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update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ensemble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194560"/>
            <a:ext cx="2240280" cy="18288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377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onsolas"/>
              </a:rPr>
              <a:t>…repeat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97180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stop when val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stops improving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310896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310896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69480" y="310896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310896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4114800"/>
            <a:ext cx="0" cy="82296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377440" y="4937760"/>
            <a:ext cx="8595360" cy="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377440" y="4114800"/>
            <a:ext cx="0" cy="82296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377440" y="4069080"/>
            <a:ext cx="0" cy="4572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5212080"/>
            <a:ext cx="11338560" cy="11887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C070"/>
                </a:solidFill>
                <a:latin typeface="Calibri"/>
              </a:rPr>
              <a:t>WHY "GRADIENT"?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235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For squared loss, residual (y − F) IS the negative gradient. For other losses, swap residual for −∂L/∂F.  The next tree is a discrete step in the steepest-descent direction over function space.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XGBoost · LightGBM · CatBoost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Same idea, three engineering philosophies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183"/>
                <a:gridCol w="3035456"/>
                <a:gridCol w="3035456"/>
                <a:gridCol w="3035456"/>
              </a:tblGrid>
              <a:tr h="65314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Tree growth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Level-wise (balanced)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Leaf-wise (best-gain)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Symmetric / oblivious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Speed lever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Histogram + GPU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Histogram + GOSS + EFB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Histogram + ordered boosting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Manual (OHE / target)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Native int-encoded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Native — ordered TS, best for high card.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Default regularisation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γ, λ in objective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min_data, leaves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L2 + ordered TS prevents target leak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Wins when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Need rock-solid baselines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Very wide datasets, fast iter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Heavy categorical, small-to-mid data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Watch out for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Slower than LGBM on wide data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Overfit on small data; tune carefully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Slower train; smaller community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3E00"/>
                </a:solidFill>
                <a:latin typeface="Calibri"/>
              </a:rPr>
              <a:t>Default to LightGBM for wide tabular; XGBoost when you need predictability; CatBoost when categoricals dominate.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Naive Bayes &amp; KNN · when each shines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Different inductive biases — pick the one that matches your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4509820"/>
                <a:gridCol w="4509820"/>
              </a:tblGrid>
              <a:tr h="59436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Features independent given the class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Similar inputs have similar labels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Training cost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O(n p) — just count / sum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O(1) — store the data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Prediction cost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O(p) per example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O(n p) per example (without indexing)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Calibration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Often over-confident (independence violated)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Vote-based, naturally well-calibrated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Loves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Text, high-dim sparse data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Low-dim, dense, well-separated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Hates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Strongly correlated features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Curse of dimensionality; needs scaling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Common pitfall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Zero counts → smoothing (Laplace)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Skewed classes → distance-weighted k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Unsupervised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38 –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k-means · four iterations of Lloyd's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Assign → update → assign → … until centroids stop moving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43200" cy="40233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Iter 0 — init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31520" y="2286000"/>
            <a:ext cx="0" cy="3108959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" y="5394959"/>
            <a:ext cx="22860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55888" y="4245080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2870" y="4963149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01882" y="4421368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7608" y="477737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9028" y="4528849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7943" y="490198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0496" y="4706312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1481" y="4205978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49026" y="3392240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22963" y="3621847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39740" y="382221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31942" y="358005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93911" y="3102990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59210" y="3378649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29440" y="3825199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69326" y="373130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12172" y="2300811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5768" y="298050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83934" y="2468832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12617" y="2377439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5379" y="247466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42080" y="2315545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14549" y="299769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1400" y="2536740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40664" y="4919471"/>
            <a:ext cx="365760" cy="0"/>
          </a:xfrm>
          <a:prstGeom prst="line">
            <a:avLst/>
          </a:prstGeom>
          <a:ln w="4445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3544" y="4736591"/>
            <a:ext cx="0" cy="365760"/>
          </a:xfrm>
          <a:prstGeom prst="line">
            <a:avLst/>
          </a:prstGeom>
          <a:ln w="4445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88720" y="4206239"/>
            <a:ext cx="365760" cy="0"/>
          </a:xfrm>
          <a:prstGeom prst="line">
            <a:avLst/>
          </a:prstGeom>
          <a:ln w="444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71600" y="4023359"/>
            <a:ext cx="0" cy="365760"/>
          </a:xfrm>
          <a:prstGeom prst="line">
            <a:avLst/>
          </a:prstGeom>
          <a:ln w="444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28800" y="4206239"/>
            <a:ext cx="365760" cy="0"/>
          </a:xfrm>
          <a:prstGeom prst="line">
            <a:avLst/>
          </a:prstGeom>
          <a:ln w="44450">
            <a:solidFill>
              <a:srgbClr val="F5C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11680" y="4023359"/>
            <a:ext cx="0" cy="365760"/>
          </a:xfrm>
          <a:prstGeom prst="line">
            <a:avLst/>
          </a:prstGeom>
          <a:ln w="44450">
            <a:solidFill>
              <a:srgbClr val="F5C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383280" y="1645920"/>
            <a:ext cx="2743200" cy="40233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Iter 1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657600" y="2286000"/>
            <a:ext cx="0" cy="3108959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57600" y="5394959"/>
            <a:ext cx="22860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181968" y="424508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78950" y="4963149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27962" y="4421368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053688" y="477737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025108" y="4528849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014023" y="490198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946576" y="4706312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077561" y="4205978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75106" y="3392240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849043" y="3621847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65820" y="382221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858022" y="358005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819991" y="3102990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885290" y="3378649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755520" y="3825199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795406" y="373130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38252" y="2300811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311848" y="298050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410014" y="2468832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338697" y="2377439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351459" y="247466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168160" y="2315545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440629" y="299769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47480" y="2536740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3922775" y="4562856"/>
            <a:ext cx="365760" cy="0"/>
          </a:xfrm>
          <a:prstGeom prst="line">
            <a:avLst/>
          </a:prstGeom>
          <a:ln w="4445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105655" y="4379976"/>
            <a:ext cx="0" cy="365760"/>
          </a:xfrm>
          <a:prstGeom prst="line">
            <a:avLst/>
          </a:prstGeom>
          <a:ln w="4445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242816" y="3374135"/>
            <a:ext cx="365760" cy="0"/>
          </a:xfrm>
          <a:prstGeom prst="line">
            <a:avLst/>
          </a:prstGeom>
          <a:ln w="444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425696" y="3191255"/>
            <a:ext cx="0" cy="365760"/>
          </a:xfrm>
          <a:prstGeom prst="line">
            <a:avLst/>
          </a:prstGeom>
          <a:ln w="444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818888" y="3611879"/>
            <a:ext cx="365760" cy="0"/>
          </a:xfrm>
          <a:prstGeom prst="line">
            <a:avLst/>
          </a:prstGeom>
          <a:ln w="44450">
            <a:solidFill>
              <a:srgbClr val="F5C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001768" y="3428999"/>
            <a:ext cx="0" cy="365760"/>
          </a:xfrm>
          <a:prstGeom prst="line">
            <a:avLst/>
          </a:prstGeom>
          <a:ln w="44450">
            <a:solidFill>
              <a:srgbClr val="F5C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309360" y="1645920"/>
            <a:ext cx="2743200" cy="40233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936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Iter 2</a:t>
            </a:r>
          </a:p>
        </p:txBody>
      </p:sp>
      <p:cxnSp>
        <p:nvCxnSpPr>
          <p:cNvPr id="76" name="Connector 75"/>
          <p:cNvCxnSpPr/>
          <p:nvPr/>
        </p:nvCxnSpPr>
        <p:spPr>
          <a:xfrm flipV="1">
            <a:off x="6583680" y="2286000"/>
            <a:ext cx="0" cy="3108959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583680" y="5394959"/>
            <a:ext cx="22860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7108048" y="424508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705030" y="4963149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054042" y="4421368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979768" y="477737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951188" y="4528849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940103" y="490198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872656" y="4706312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003641" y="4205978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001186" y="3392240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775123" y="3621847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591900" y="382221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784102" y="358005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746071" y="3102990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811370" y="3378649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681600" y="3825199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721486" y="373130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164332" y="2300811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237928" y="298050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336094" y="2468832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264777" y="2377439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277539" y="247466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094240" y="2315545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366709" y="299769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273560" y="2536740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6784848" y="4681727"/>
            <a:ext cx="365760" cy="0"/>
          </a:xfrm>
          <a:prstGeom prst="line">
            <a:avLst/>
          </a:prstGeom>
          <a:ln w="4445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967728" y="4498847"/>
            <a:ext cx="0" cy="365760"/>
          </a:xfrm>
          <a:prstGeom prst="line">
            <a:avLst/>
          </a:prstGeom>
          <a:ln w="4445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040880" y="2779775"/>
            <a:ext cx="365760" cy="0"/>
          </a:xfrm>
          <a:prstGeom prst="line">
            <a:avLst/>
          </a:prstGeom>
          <a:ln w="444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223760" y="2596895"/>
            <a:ext cx="0" cy="365760"/>
          </a:xfrm>
          <a:prstGeom prst="line">
            <a:avLst/>
          </a:prstGeom>
          <a:ln w="444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680960" y="3493007"/>
            <a:ext cx="365760" cy="0"/>
          </a:xfrm>
          <a:prstGeom prst="line">
            <a:avLst/>
          </a:prstGeom>
          <a:ln w="44450">
            <a:solidFill>
              <a:srgbClr val="F5C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863840" y="3310127"/>
            <a:ext cx="0" cy="365760"/>
          </a:xfrm>
          <a:prstGeom prst="line">
            <a:avLst/>
          </a:prstGeom>
          <a:ln w="44450">
            <a:solidFill>
              <a:srgbClr val="F5C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9235440" y="1645920"/>
            <a:ext cx="2743200" cy="40233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35440" y="1737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Iter 3 — converged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9509760" y="2286000"/>
            <a:ext cx="0" cy="3108959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509760" y="5394959"/>
            <a:ext cx="22860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0034128" y="424508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631110" y="4963149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980122" y="4421368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905848" y="477737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877268" y="4528849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866183" y="4901980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798736" y="4706312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929721" y="4205978"/>
            <a:ext cx="128016" cy="128016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927266" y="3392240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701203" y="3621847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517980" y="382221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710182" y="358005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672151" y="3102990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737450" y="3378649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607680" y="3825199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647566" y="3731305"/>
            <a:ext cx="128016" cy="128016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090412" y="2300811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164008" y="298050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262174" y="2468832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190857" y="2377439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203619" y="247466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020320" y="2315545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292789" y="2997697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199640" y="2536740"/>
            <a:ext cx="128016" cy="128016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9710928" y="4681727"/>
            <a:ext cx="365760" cy="0"/>
          </a:xfrm>
          <a:prstGeom prst="line">
            <a:avLst/>
          </a:prstGeom>
          <a:ln w="4445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893808" y="4498847"/>
            <a:ext cx="0" cy="365760"/>
          </a:xfrm>
          <a:prstGeom prst="line">
            <a:avLst/>
          </a:prstGeom>
          <a:ln w="4445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966960" y="2779775"/>
            <a:ext cx="365760" cy="0"/>
          </a:xfrm>
          <a:prstGeom prst="line">
            <a:avLst/>
          </a:prstGeom>
          <a:ln w="444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149840" y="2596895"/>
            <a:ext cx="0" cy="365760"/>
          </a:xfrm>
          <a:prstGeom prst="line">
            <a:avLst/>
          </a:prstGeom>
          <a:ln w="444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607040" y="3493007"/>
            <a:ext cx="365760" cy="0"/>
          </a:xfrm>
          <a:prstGeom prst="line">
            <a:avLst/>
          </a:prstGeom>
          <a:ln w="44450">
            <a:solidFill>
              <a:srgbClr val="F5C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789920" y="3310127"/>
            <a:ext cx="0" cy="365760"/>
          </a:xfrm>
          <a:prstGeom prst="line">
            <a:avLst/>
          </a:prstGeom>
          <a:ln w="44450">
            <a:solidFill>
              <a:srgbClr val="F5C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57200" y="58521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AB4C8"/>
                </a:solidFill>
                <a:latin typeface="Calibri"/>
              </a:rPr>
              <a:t>Inertia = Σ min‖xᵢ − μₖ‖² monotonically decreases.  Init matters — use k-means++ to avoid bad locals.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Choosing k · elbow + silhouette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Two diagnostics, two questions — agree before you 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ELBOW (inertia vs k)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097280" y="2194560"/>
            <a:ext cx="0" cy="38404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6035040"/>
            <a:ext cx="45720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80" y="6080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k</a:t>
            </a:r>
          </a:p>
        </p:txBody>
      </p:sp>
      <p:sp>
        <p:nvSpPr>
          <p:cNvPr id="11" name="Oval 10"/>
          <p:cNvSpPr/>
          <p:nvPr/>
        </p:nvSpPr>
        <p:spPr>
          <a:xfrm>
            <a:off x="1453896" y="3099816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65376" y="4471416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76856" y="4928616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88336" y="5157217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9816" y="5294376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11296" y="5385816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22776" y="5451131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34256" y="5500116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45736" y="5538216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7216" y="5568697"/>
            <a:ext cx="109728" cy="109728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08760" y="3154680"/>
            <a:ext cx="411480" cy="1371600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20240" y="4526280"/>
            <a:ext cx="411480" cy="457200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4983480"/>
            <a:ext cx="411480" cy="228601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43200" y="5212081"/>
            <a:ext cx="411480" cy="137159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154680" y="5349240"/>
            <a:ext cx="411480" cy="91440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66160" y="5440680"/>
            <a:ext cx="411480" cy="65315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77640" y="5505995"/>
            <a:ext cx="411480" cy="48985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89120" y="5554980"/>
            <a:ext cx="411480" cy="38100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00600" y="5593080"/>
            <a:ext cx="411480" cy="30481"/>
          </a:xfrm>
          <a:prstGeom prst="line">
            <a:avLst/>
          </a:prstGeom>
          <a:ln w="25400">
            <a:solidFill>
              <a:srgbClr val="3D8B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167128" y="4818888"/>
            <a:ext cx="329184" cy="329184"/>
          </a:xfrm>
          <a:prstGeom prst="ellipse">
            <a:avLst/>
          </a:prstGeom>
          <a:solidFill>
            <a:srgbClr val="12182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4617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elbow at k=3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SILHOUETTE (score vs k)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858000" y="2194560"/>
            <a:ext cx="0" cy="38404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58000" y="6035040"/>
            <a:ext cx="466344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260336" y="5980176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17536" y="4517136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145536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31936" y="3465576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89136" y="4059936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46336" y="4379976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03536" y="4700016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60736" y="4974336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917936" y="5157217"/>
            <a:ext cx="109728" cy="109728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7315200" y="4572000"/>
            <a:ext cx="457200" cy="1463040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772400" y="3200400"/>
            <a:ext cx="457200" cy="1371600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29600" y="3200400"/>
            <a:ext cx="457200" cy="320040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86800" y="3520440"/>
            <a:ext cx="457200" cy="594360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4114800"/>
            <a:ext cx="457200" cy="320040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01200" y="4434840"/>
            <a:ext cx="457200" cy="320040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58400" y="4754880"/>
            <a:ext cx="457200" cy="274320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15600" y="5029200"/>
            <a:ext cx="457200" cy="182881"/>
          </a:xfrm>
          <a:prstGeom prst="line">
            <a:avLst/>
          </a:prstGeom>
          <a:ln w="2540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607808" y="4407408"/>
            <a:ext cx="329184" cy="329184"/>
          </a:xfrm>
          <a:prstGeom prst="ellipse">
            <a:avLst/>
          </a:prstGeom>
          <a:solidFill>
            <a:srgbClr val="12182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peak at k=3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C8"/>
                </a:solidFill>
                <a:latin typeface="Calibri"/>
              </a:rPr>
              <a:t>Silhouette ranges from −1 (wrong cluster) to +1 (well placed).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Hierarchical clustering · the dendrogram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Build a tree of merges — cut it horizontally to choose 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74552" cy="3657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4983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H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14400" y="4480560"/>
            <a:ext cx="0" cy="45720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103120" y="4480560"/>
            <a:ext cx="0" cy="45720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" y="4480560"/>
            <a:ext cx="1188720" cy="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91840" y="4480560"/>
            <a:ext cx="0" cy="45720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480560" y="4480560"/>
            <a:ext cx="0" cy="45720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91840" y="4480560"/>
            <a:ext cx="1188720" cy="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669280" y="4389120"/>
            <a:ext cx="0" cy="54864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858000" y="4389120"/>
            <a:ext cx="0" cy="54864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69280" y="4389120"/>
            <a:ext cx="1188720" cy="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046720" y="4389120"/>
            <a:ext cx="0" cy="54864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235440" y="4389120"/>
            <a:ext cx="0" cy="54864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0" y="4389120"/>
            <a:ext cx="1188720" cy="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71600" y="3931920"/>
            <a:ext cx="0" cy="54864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00400" y="3931920"/>
            <a:ext cx="0" cy="54864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71600" y="3931920"/>
            <a:ext cx="1828800" cy="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029200" y="3931920"/>
            <a:ext cx="0" cy="45720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58000" y="3931920"/>
            <a:ext cx="0" cy="45720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29200" y="3931920"/>
            <a:ext cx="1828800" cy="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286000" y="2926080"/>
            <a:ext cx="0" cy="146304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943600" y="2926080"/>
            <a:ext cx="0" cy="146304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86000" y="2926080"/>
            <a:ext cx="3657600" cy="0"/>
          </a:xfrm>
          <a:prstGeom prst="line">
            <a:avLst/>
          </a:prstGeom>
          <a:ln w="254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0080" y="3383280"/>
            <a:ext cx="9875520" cy="0"/>
          </a:xfrm>
          <a:prstGeom prst="line">
            <a:avLst/>
          </a:prstGeom>
          <a:ln w="25400" cap="flat">
            <a:solidFill>
              <a:srgbClr val="4CC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07040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CC070"/>
                </a:solidFill>
                <a:latin typeface="Calibri"/>
              </a:rPr>
              <a:t>cut → k=2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40680"/>
            <a:ext cx="11274552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LINKAGE CHOICES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single = min pairwise (chains).   complete = max (compact).   average = mean.   Ward = minimise variance increase (most common with Euclidean).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39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PCA · eigendecomposition of the covariance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Rotate axes so the first direction captures the most 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DERIVATION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1.  Centre X:    Xc = X − μ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2.  Covariance:  Σ  =  (1/n) Xcᵀ Xc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3.  Eigen:       Σ vₖ  =  λₖ vₖ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4.  Sort λ₁ ≥ λ₂ ≥ … ≥ λp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5.  Top k eigenvectors → projection matrix W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6.  Reduced data:  Z = Xc W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Variance explained:  λₖ / Σⱼ λⱼ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SCREE  (cumulative variance explained)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858000" y="2194560"/>
            <a:ext cx="0" cy="38404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6035040"/>
            <a:ext cx="466344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40880" y="3346704"/>
            <a:ext cx="411480" cy="2688336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4690872"/>
            <a:ext cx="411480" cy="1344168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5202936"/>
            <a:ext cx="411480" cy="832104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5522976"/>
            <a:ext cx="411480" cy="512064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5650992"/>
            <a:ext cx="411480" cy="384048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55480" y="5779008"/>
            <a:ext cx="411480" cy="256032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0" y="5843016"/>
            <a:ext cx="411480" cy="192024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61320" y="5907024"/>
            <a:ext cx="411480" cy="128016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64240" y="5971032"/>
            <a:ext cx="411480" cy="64008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7246620" y="3845967"/>
            <a:ext cx="502920" cy="72969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749540" y="3394253"/>
            <a:ext cx="502920" cy="45171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52460" y="3116276"/>
            <a:ext cx="502920" cy="27797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755380" y="2907793"/>
            <a:ext cx="502920" cy="20848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258300" y="2768804"/>
            <a:ext cx="502920" cy="13898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761220" y="2664562"/>
            <a:ext cx="502920" cy="10424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64140" y="2595068"/>
            <a:ext cx="502920" cy="6949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767060" y="2560320"/>
            <a:ext cx="502920" cy="3474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734056"/>
            <a:ext cx="4663440" cy="0"/>
          </a:xfrm>
          <a:prstGeom prst="line">
            <a:avLst/>
          </a:prstGeom>
          <a:ln w="19050" cap="flat">
            <a:solidFill>
              <a:srgbClr val="F5C0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07040" y="25511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C042"/>
                </a:solidFill>
                <a:latin typeface="Calibri"/>
              </a:rPr>
              <a:t>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t-SNE &amp; UMAP · what these plots do NOT tell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Beautiful maps, treacherous interpretations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67056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The plot shows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It does NOT show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Local neighbourhood structure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Global distances — far apart ≠ very different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Whether clusters exist (probably)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Cluster SIZES — areas are not preserved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Coarse separation patterns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Cluster DENSITIES — apparent gaps may be artifact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A useful exploratory view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A reliable feature space for downstream classifiers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705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Reproducibility within a run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400">
                          <a:solidFill>
                            <a:srgbClr val="F5F6F7"/>
                          </a:solidFill>
                          <a:latin typeface="Calibri"/>
                        </a:rPr>
                        <a:t>Reproducibility across perplexity / n_neighbors / seed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760720"/>
            <a:ext cx="11274552" cy="64008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Use t-SNE / UMAP to see structure — never to measure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Model Evaluation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42 – 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confusion matrix · 2×2 with real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 loan-default classifier on 1,000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45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65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Default 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965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OK 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548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P</a:t>
            </a:r>
          </a:p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r</a:t>
            </a:r>
          </a:p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e</a:t>
            </a:r>
          </a:p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9456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Pos 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F6F7"/>
                </a:solidFill>
                <a:latin typeface="Calibri"/>
              </a:rPr>
              <a:t>Neg (0)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194560"/>
            <a:ext cx="2011680" cy="2011680"/>
          </a:xfrm>
          <a:prstGeom prst="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CC070"/>
                </a:solidFill>
                <a:latin typeface="Calibri"/>
              </a:rPr>
              <a:t>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611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True</a:t>
            </a:r>
          </a:p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positive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2194560"/>
            <a:ext cx="2011680" cy="2011680"/>
          </a:xfrm>
          <a:prstGeom prst="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2860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04B4B"/>
                </a:solidFill>
                <a:latin typeface="Calibri"/>
              </a:rPr>
              <a:t>FP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7889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611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False</a:t>
            </a:r>
          </a:p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positive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206240"/>
            <a:ext cx="2011680" cy="2011680"/>
          </a:xfrm>
          <a:prstGeom prst="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297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04B4B"/>
                </a:solidFill>
                <a:latin typeface="Calibri"/>
              </a:rPr>
              <a:t>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00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6235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False</a:t>
            </a:r>
          </a:p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negative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4206240"/>
            <a:ext cx="2011680" cy="2011680"/>
          </a:xfrm>
          <a:prstGeom prst="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CC070"/>
                </a:solidFill>
                <a:latin typeface="Calibri"/>
              </a:rPr>
              <a:t>TN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8006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840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6235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True</a:t>
            </a:r>
          </a:p>
          <a:p>
            <a:pPr algn="ctr"/>
            <a:r>
              <a:rPr sz="1000" b="0">
                <a:solidFill>
                  <a:srgbClr val="AAB4C8"/>
                </a:solidFill>
                <a:latin typeface="Calibri"/>
              </a:rPr>
              <a:t>negative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737360"/>
            <a:ext cx="4937760" cy="4572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1874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DERIVED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331720"/>
            <a:ext cx="45720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Accuracy  =  (TP + TN) / N   =  92.0%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Precision = TP / (TP + FP) =  80 / 140  = 57.1%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Recall    = TP / (TP + FN) =  80 / 100  = 80.0%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F1        = 2·P·R / (P + R)            = 66.7%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Specificity = TN / (TN + FP)           = 93.3%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Prevalence =  100 / 1000               = 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Precision · Recall · F1 — and when you care about which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Asymmetric costs → asymmetric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650"/>
                <a:gridCol w="2415975"/>
                <a:gridCol w="3221300"/>
                <a:gridCol w="4026625"/>
              </a:tblGrid>
              <a:tr h="6858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Optimise when…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TP / (TP + FP)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False positives are expensive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Spam filter — don't quarantine real mail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TP / (TP + FN)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False negatives are expensive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Cancer screen — don't miss a real case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2 P R / (P + R)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Balanced concerns; class imbalance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Single-number sanity check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F-β  (β=2)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(1+β²) P R / (β² P + R)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Recall matters β times more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Fraud — recall heavier, but not infinite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TN / (TN + FP)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Negatives need to be screened well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Disease-free certification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852160"/>
            <a:ext cx="11274552" cy="54864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There is no "best" metric. There is a cost matrix — and the metric that mirrors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ROC curve · sweep the threshold, plot TPR vs FPR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AUC = area under this staircase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7772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645920" y="1920240"/>
            <a:ext cx="0" cy="402336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645920" y="5943600"/>
            <a:ext cx="6309359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0" y="5989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AB4C8"/>
                </a:solidFill>
                <a:latin typeface="Calibri"/>
              </a:rPr>
              <a:t>FPR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AB4C8"/>
                </a:solidFill>
                <a:latin typeface="Calibri"/>
              </a:rPr>
              <a:t>TPR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645920" y="2011680"/>
            <a:ext cx="6126480" cy="3931920"/>
          </a:xfrm>
          <a:prstGeom prst="line">
            <a:avLst/>
          </a:prstGeom>
          <a:ln w="19050" cap="flat">
            <a:solidFill>
              <a:srgbClr val="6C77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78C"/>
                </a:solidFill>
                <a:latin typeface="Calibri"/>
              </a:rPr>
              <a:t>random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645920" y="5747042"/>
            <a:ext cx="102288" cy="19655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48208" y="5557146"/>
            <a:ext cx="102289" cy="18989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850497" y="5373797"/>
            <a:ext cx="102289" cy="18334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952786" y="5196880"/>
            <a:ext cx="102289" cy="17691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55075" y="5026282"/>
            <a:ext cx="102289" cy="17059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57364" y="4861886"/>
            <a:ext cx="102288" cy="16439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259652" y="4703579"/>
            <a:ext cx="102289" cy="15830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61941" y="4551245"/>
            <a:ext cx="102289" cy="15233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464230" y="4404768"/>
            <a:ext cx="102289" cy="14647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566519" y="4264036"/>
            <a:ext cx="102289" cy="14073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668808" y="4128932"/>
            <a:ext cx="102288" cy="13510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71096" y="3999341"/>
            <a:ext cx="102289" cy="12959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873385" y="3875149"/>
            <a:ext cx="102289" cy="12419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75674" y="3756242"/>
            <a:ext cx="102289" cy="11890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077963" y="3642503"/>
            <a:ext cx="102289" cy="11373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180252" y="3533818"/>
            <a:ext cx="102289" cy="10868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82541" y="3430073"/>
            <a:ext cx="102288" cy="10374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384829" y="3331153"/>
            <a:ext cx="102289" cy="9892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487118" y="3236942"/>
            <a:ext cx="102289" cy="9421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589407" y="3147325"/>
            <a:ext cx="102289" cy="8961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691696" y="3062189"/>
            <a:ext cx="102289" cy="8513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793985" y="2981417"/>
            <a:ext cx="102288" cy="8077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896273" y="2904896"/>
            <a:ext cx="102289" cy="7652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98562" y="2832510"/>
            <a:ext cx="102289" cy="7238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100851" y="2764144"/>
            <a:ext cx="102289" cy="6836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03140" y="2699684"/>
            <a:ext cx="102289" cy="6446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05429" y="2639014"/>
            <a:ext cx="102288" cy="6067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407717" y="2582020"/>
            <a:ext cx="102289" cy="5699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510006" y="2528587"/>
            <a:ext cx="102289" cy="5343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12295" y="2478601"/>
            <a:ext cx="102289" cy="4998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714584" y="2431945"/>
            <a:ext cx="102289" cy="4665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816873" y="2388506"/>
            <a:ext cx="102289" cy="4343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919162" y="2348168"/>
            <a:ext cx="102288" cy="4033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021450" y="2310816"/>
            <a:ext cx="102289" cy="3735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123739" y="2276337"/>
            <a:ext cx="102289" cy="3447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226028" y="2244614"/>
            <a:ext cx="102289" cy="3172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328317" y="2215533"/>
            <a:ext cx="102289" cy="2908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430606" y="2188980"/>
            <a:ext cx="102288" cy="2655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532894" y="2164838"/>
            <a:ext cx="102289" cy="2414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635183" y="2142994"/>
            <a:ext cx="102289" cy="2184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37472" y="2123332"/>
            <a:ext cx="102289" cy="1966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839761" y="2105738"/>
            <a:ext cx="102289" cy="1759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942050" y="2090097"/>
            <a:ext cx="102288" cy="1564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044338" y="2076294"/>
            <a:ext cx="102289" cy="1380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146627" y="2064214"/>
            <a:ext cx="102289" cy="1208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248916" y="2053741"/>
            <a:ext cx="102289" cy="1047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351205" y="2044763"/>
            <a:ext cx="102289" cy="897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453494" y="2037162"/>
            <a:ext cx="102289" cy="760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555783" y="2030825"/>
            <a:ext cx="102288" cy="633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58071" y="2025637"/>
            <a:ext cx="102289" cy="518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760360" y="2021483"/>
            <a:ext cx="102289" cy="415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862649" y="2018247"/>
            <a:ext cx="102289" cy="323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964938" y="2015816"/>
            <a:ext cx="102289" cy="243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067227" y="2014074"/>
            <a:ext cx="102288" cy="174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169515" y="2012906"/>
            <a:ext cx="102289" cy="116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271804" y="2012197"/>
            <a:ext cx="102289" cy="70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374093" y="2011834"/>
            <a:ext cx="102289" cy="36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476382" y="2011700"/>
            <a:ext cx="102289" cy="13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578671" y="2011680"/>
            <a:ext cx="102289" cy="2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3107100" y="3569351"/>
            <a:ext cx="146304" cy="146304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71692" y="3596783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C042"/>
                </a:solidFill>
                <a:latin typeface="Calibri"/>
              </a:rPr>
              <a:t>τ=0.7</a:t>
            </a:r>
          </a:p>
        </p:txBody>
      </p:sp>
      <p:sp>
        <p:nvSpPr>
          <p:cNvPr id="74" name="Oval 73"/>
          <p:cNvSpPr/>
          <p:nvPr/>
        </p:nvSpPr>
        <p:spPr>
          <a:xfrm>
            <a:off x="4641432" y="2405449"/>
            <a:ext cx="146304" cy="146304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06024" y="243288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C042"/>
                </a:solidFill>
                <a:latin typeface="Calibri"/>
              </a:rPr>
              <a:t>τ=0.5</a:t>
            </a:r>
          </a:p>
        </p:txBody>
      </p:sp>
      <p:sp>
        <p:nvSpPr>
          <p:cNvPr id="76" name="Oval 75"/>
          <p:cNvSpPr/>
          <p:nvPr/>
        </p:nvSpPr>
        <p:spPr>
          <a:xfrm>
            <a:off x="6687208" y="1952485"/>
            <a:ext cx="146304" cy="146304"/>
          </a:xfrm>
          <a:prstGeom prst="ellipse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51800" y="197991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C042"/>
                </a:solidFill>
                <a:latin typeface="Calibri"/>
              </a:rPr>
              <a:t>τ=0.2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03920" y="1554480"/>
            <a:ext cx="329184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AUC INTERPRETATION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2148840"/>
            <a:ext cx="29260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AUC  =  P(score₊ &gt; score₋)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Probability that a random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positive scores higher than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a random negative.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0.5  →  random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1.0  →  perfect ranking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Threshold-free metric —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compares rankings, not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specific operating points.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ROC vs PR · imbalanced classes change the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Same model, two curves — only one is honest under skew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ROC — looks great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188720" y="2194560"/>
            <a:ext cx="0" cy="374904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5943600"/>
            <a:ext cx="448056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88720" y="2286000"/>
            <a:ext cx="4480560" cy="3657600"/>
          </a:xfrm>
          <a:prstGeom prst="line">
            <a:avLst/>
          </a:prstGeom>
          <a:ln w="12700" cap="flat">
            <a:solidFill>
              <a:srgbClr val="6C77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88720" y="5719992"/>
            <a:ext cx="71292" cy="22360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60012" y="5507654"/>
            <a:ext cx="71292" cy="21233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31304" y="5306203"/>
            <a:ext cx="71292" cy="20145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02596" y="5115260"/>
            <a:ext cx="71292" cy="19094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473888" y="4934453"/>
            <a:ext cx="71293" cy="18080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545181" y="4763416"/>
            <a:ext cx="71292" cy="17103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16473" y="4601792"/>
            <a:ext cx="71292" cy="16162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687765" y="4449228"/>
            <a:ext cx="71292" cy="15256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759057" y="4305379"/>
            <a:ext cx="71292" cy="14384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30349" y="4169907"/>
            <a:ext cx="71293" cy="13547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01642" y="4042480"/>
            <a:ext cx="71292" cy="12742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72934" y="3922773"/>
            <a:ext cx="71292" cy="11970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044226" y="3810468"/>
            <a:ext cx="71292" cy="11230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15518" y="3705253"/>
            <a:ext cx="71292" cy="10521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86810" y="3606824"/>
            <a:ext cx="71293" cy="9842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258103" y="3514882"/>
            <a:ext cx="71292" cy="9194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329395" y="3429135"/>
            <a:ext cx="71292" cy="8574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400687" y="3349299"/>
            <a:ext cx="71292" cy="7983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71979" y="3275096"/>
            <a:ext cx="71292" cy="7420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543271" y="3206255"/>
            <a:ext cx="71293" cy="6884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614564" y="3142510"/>
            <a:ext cx="71292" cy="6374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685856" y="3083604"/>
            <a:ext cx="71292" cy="5890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757148" y="3029285"/>
            <a:ext cx="71292" cy="5431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828440" y="2979309"/>
            <a:ext cx="71292" cy="4997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899732" y="2933438"/>
            <a:ext cx="71293" cy="4587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971025" y="2891441"/>
            <a:ext cx="71292" cy="4199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42317" y="2853093"/>
            <a:ext cx="71292" cy="3834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113609" y="2818176"/>
            <a:ext cx="71292" cy="3491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184901" y="2786480"/>
            <a:ext cx="71292" cy="3169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256193" y="2757800"/>
            <a:ext cx="71293" cy="2868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327486" y="2731938"/>
            <a:ext cx="71292" cy="2586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98778" y="2708704"/>
            <a:ext cx="71292" cy="2323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470070" y="2687912"/>
            <a:ext cx="71292" cy="2079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41362" y="2669387"/>
            <a:ext cx="71292" cy="1852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612654" y="2652955"/>
            <a:ext cx="71293" cy="1643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83947" y="2638455"/>
            <a:ext cx="71292" cy="1450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755239" y="2625727"/>
            <a:ext cx="71292" cy="1272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826531" y="2614621"/>
            <a:ext cx="71292" cy="1110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897823" y="2604994"/>
            <a:ext cx="71292" cy="962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969115" y="2596707"/>
            <a:ext cx="71293" cy="828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040408" y="2589631"/>
            <a:ext cx="71292" cy="707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111700" y="2583640"/>
            <a:ext cx="71292" cy="599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182992" y="2578619"/>
            <a:ext cx="71292" cy="502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254284" y="2574455"/>
            <a:ext cx="71292" cy="416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325576" y="2571047"/>
            <a:ext cx="71293" cy="340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396869" y="2568295"/>
            <a:ext cx="71292" cy="275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468161" y="2566110"/>
            <a:ext cx="71292" cy="218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39453" y="2564408"/>
            <a:ext cx="71292" cy="170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610745" y="2563113"/>
            <a:ext cx="71292" cy="129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682037" y="2562152"/>
            <a:ext cx="71293" cy="96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753330" y="2561464"/>
            <a:ext cx="71292" cy="68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824622" y="2560991"/>
            <a:ext cx="71292" cy="47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895914" y="2560682"/>
            <a:ext cx="71292" cy="30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967206" y="2560495"/>
            <a:ext cx="71292" cy="18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038498" y="2560392"/>
            <a:ext cx="71293" cy="10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109791" y="2560343"/>
            <a:ext cx="71292" cy="4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181083" y="2560325"/>
            <a:ext cx="71292" cy="1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252375" y="2560321"/>
            <a:ext cx="71292" cy="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323667" y="2560320"/>
            <a:ext cx="71293" cy="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28600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AUC = 0.94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PR — same model, much sadder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6995160" y="2194560"/>
            <a:ext cx="0" cy="374904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5943600"/>
            <a:ext cx="452628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995160" y="2560320"/>
            <a:ext cx="71292" cy="18512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066452" y="2745446"/>
            <a:ext cx="71292" cy="11561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137744" y="2861057"/>
            <a:ext cx="71292" cy="9870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209036" y="2959759"/>
            <a:ext cx="71292" cy="8910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280328" y="3048868"/>
            <a:ext cx="71293" cy="8259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351621" y="3131463"/>
            <a:ext cx="71292" cy="7774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422913" y="3209210"/>
            <a:ext cx="71292" cy="7393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494205" y="3283147"/>
            <a:ext cx="71292" cy="7082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565497" y="3353969"/>
            <a:ext cx="71292" cy="6820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36789" y="3422177"/>
            <a:ext cx="71293" cy="6596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08082" y="3488144"/>
            <a:ext cx="71292" cy="6401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779374" y="3552157"/>
            <a:ext cx="71292" cy="6228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850666" y="3614445"/>
            <a:ext cx="71292" cy="6074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921958" y="3675194"/>
            <a:ext cx="71292" cy="5936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993250" y="3734555"/>
            <a:ext cx="71293" cy="5810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064543" y="3792656"/>
            <a:ext cx="71292" cy="5695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135835" y="3849606"/>
            <a:ext cx="71292" cy="5589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207127" y="3905497"/>
            <a:ext cx="71292" cy="5491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278419" y="3960410"/>
            <a:ext cx="71292" cy="5400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349711" y="4014415"/>
            <a:ext cx="71293" cy="5315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421004" y="4067573"/>
            <a:ext cx="71292" cy="5236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492296" y="4119940"/>
            <a:ext cx="71292" cy="5162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63588" y="4171563"/>
            <a:ext cx="71292" cy="5092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634880" y="4222487"/>
            <a:ext cx="71292" cy="5026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706172" y="4272751"/>
            <a:ext cx="71293" cy="4963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777465" y="4322390"/>
            <a:ext cx="71292" cy="4904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848757" y="4371437"/>
            <a:ext cx="71292" cy="4848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920049" y="4419922"/>
            <a:ext cx="71292" cy="4794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991341" y="4467870"/>
            <a:ext cx="71292" cy="4743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062633" y="4515307"/>
            <a:ext cx="71293" cy="4694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133926" y="4562256"/>
            <a:ext cx="71292" cy="4648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205218" y="4608737"/>
            <a:ext cx="71292" cy="4603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276510" y="4654771"/>
            <a:ext cx="71292" cy="4560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347802" y="4700375"/>
            <a:ext cx="71292" cy="4519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419094" y="4745567"/>
            <a:ext cx="71293" cy="4479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490387" y="4790361"/>
            <a:ext cx="71292" cy="4441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561679" y="4834773"/>
            <a:ext cx="71292" cy="4404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632971" y="4878816"/>
            <a:ext cx="71292" cy="43688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704263" y="4922504"/>
            <a:ext cx="71292" cy="43344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775555" y="4965848"/>
            <a:ext cx="71293" cy="4301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846848" y="5008860"/>
            <a:ext cx="71292" cy="4269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918140" y="5051551"/>
            <a:ext cx="71292" cy="4237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989432" y="5093930"/>
            <a:ext cx="71292" cy="4207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060724" y="5136007"/>
            <a:ext cx="71292" cy="4178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132016" y="5177792"/>
            <a:ext cx="71293" cy="4150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203309" y="5219293"/>
            <a:ext cx="71292" cy="4122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274601" y="5260519"/>
            <a:ext cx="71292" cy="4095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345893" y="5301476"/>
            <a:ext cx="71292" cy="40696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417185" y="5342172"/>
            <a:ext cx="71292" cy="4044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488477" y="5382615"/>
            <a:ext cx="71293" cy="40197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559770" y="5422812"/>
            <a:ext cx="71292" cy="39955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631062" y="5462767"/>
            <a:ext cx="71292" cy="3972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702354" y="5502489"/>
            <a:ext cx="71292" cy="39492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773646" y="5541981"/>
            <a:ext cx="71292" cy="39270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844938" y="5581251"/>
            <a:ext cx="71293" cy="3905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916231" y="5620304"/>
            <a:ext cx="71292" cy="3883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987523" y="5659143"/>
            <a:ext cx="71292" cy="38633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1058815" y="5697776"/>
            <a:ext cx="71292" cy="38429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130107" y="5736205"/>
            <a:ext cx="71293" cy="38231"/>
          </a:xfrm>
          <a:prstGeom prst="line">
            <a:avLst/>
          </a:prstGeom>
          <a:ln w="3175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777240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AP = 0.42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C8"/>
                </a:solidFill>
                <a:latin typeface="Calibri"/>
              </a:rPr>
              <a:t>When positives are &lt; 1% of data, ROC AUC flatters the model.   PR (and Average Precision) tell the truth.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Regression metrics · what each penalises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Same residuals — different metrics tell different stories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650"/>
                <a:gridCol w="2415975"/>
                <a:gridCol w="3221300"/>
                <a:gridCol w="4026625"/>
              </a:tblGrid>
              <a:tr h="65314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Penalty shape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MSE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(1/n) Σ (y − ŷ)²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Quadratic — big errors dominate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Outliers matter; you fit by OLS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√MSE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Same units as 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Reporting; comparing across datasets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(1/n) Σ |y − ŷ|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Linear — robust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Outliers should not dominate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MAPE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(100/n) Σ |y − ŷ| / |y|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Relative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Errors should scale with magnitude (sales)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1 − SS_res / SS_tot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Variance fraction explained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Comparing model vs mean baseline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Adjusted R²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1 − (1 − R²)(n−1)/(n−p−1)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Penalises extra features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Comparing models with different p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3E00"/>
                </a:solidFill>
                <a:latin typeface="Calibri"/>
              </a:rPr>
              <a:t>MAPE explodes when y ≈ 0 — use SMAPE or absolute-error variants if your target straddles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Imbalanced classification · four lines of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Pick the technique by where it intervenes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650"/>
                <a:gridCol w="3221300"/>
                <a:gridCol w="3221300"/>
                <a:gridCol w="3221300"/>
              </a:tblGrid>
              <a:tr h="67926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it acts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Watch out for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7926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Splitting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Stratified k-fold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Train/val/test composition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Doesn't help the model — only honest scoring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7926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Class weights / focal loss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Inside the optimiser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Don't combine with resampling blindly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7926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Move τ away from 0.5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After training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Set on val, not test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7926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Over- (SMOTE) / undersample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Training data only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Leakage if applied before CV split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7926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Choose calibrated learners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Model selection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Calibrate (Platt / isotonic) if needed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792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Use PR / AP, not accuracy / ROC AUC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Reporting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Beware of "accuracy" with 1% positives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Multi-class evaluation · micro vs macro vs weighted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Three ways to roll per-class scores into one number — they disagree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4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10"/>
                <a:gridCol w="3498998"/>
                <a:gridCol w="3498998"/>
                <a:gridCol w="2721443"/>
              </a:tblGrid>
              <a:tr h="80467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Treats classes…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8046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Micro-F1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F1 computed from total TP, FP, FN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By their size (frequent classes dominate)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Accuracy-like; balanced data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8046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Mean of per-class F1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Equally, regardless of size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All classes matter equally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8046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Weighted-F1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Σ wₖ Fₖ, weight by class support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By their size, like micro — but per-class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Imbalanced + want per-class interpretability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80467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Per-class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F1 for each class shown separately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Individually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300">
                          <a:solidFill>
                            <a:srgbClr val="F5F6F7"/>
                          </a:solidFill>
                          <a:latin typeface="Calibri"/>
                        </a:rPr>
                        <a:t>Diagnose which classes the model fails 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760720"/>
            <a:ext cx="11274552" cy="59436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Multi-label ≠ multi-class — multi-label uses Hamming loss, subset accuracy, sample-averaged F1.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Hyperparameter Optimisation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48 – 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HPO problem · objective + search space +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Minimise val-loss over θ, subject to a compute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74552" cy="12801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4552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onsolas"/>
              </a:rPr>
              <a:t>θ*  =  argmin_{θ ∈ Θ}   E[ L( model(θ), val )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749039" cy="32918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3749039" cy="50292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3383279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What you actually evaluate.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Val loss / CV mean / business KPI.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Must be cheap-ish (you'll call it many times) but representative.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3108960"/>
            <a:ext cx="3749039" cy="32918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3108960"/>
            <a:ext cx="3749039" cy="50292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310896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SEARCH SPACE 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749040"/>
            <a:ext cx="3383279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Continuous (lr, λ), discrete (n_estimators), categorical (solver).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Log-scale where natural (lr, λ).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Mixed spaces are the hard case.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3108960"/>
            <a:ext cx="3749039" cy="32918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8" y="3108960"/>
            <a:ext cx="3749039" cy="50292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8" y="310896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21826"/>
                </a:solidFill>
                <a:latin typeface="Calibri"/>
              </a:rPr>
              <a:t>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749040"/>
            <a:ext cx="3383279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Wall-clock, trials, dollars.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Drives algorithm choice: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small budget  →  random / Bayesian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big budget   →  grid (rarely worth it)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parallel     →  ASHA / Hyperband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Grid vs random · same budget, very different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Bergstra &amp; Bengio (2012): random wins on most landscapes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GRID  (9 trials, 3 × 3)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371600" y="2194560"/>
            <a:ext cx="0" cy="36576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5852160"/>
            <a:ext cx="429768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80" y="5897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hp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hp 2</a:t>
            </a:r>
          </a:p>
        </p:txBody>
      </p:sp>
      <p:sp>
        <p:nvSpPr>
          <p:cNvPr id="12" name="Oval 11"/>
          <p:cNvSpPr/>
          <p:nvPr/>
        </p:nvSpPr>
        <p:spPr>
          <a:xfrm>
            <a:off x="2194560" y="50292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94560" y="41148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94560" y="32004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50292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74720" y="41148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74720" y="32004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54880" y="50292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0" y="41148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0" y="3200400"/>
            <a:ext cx="182880" cy="182880"/>
          </a:xfrm>
          <a:prstGeom prst="ellipse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C8"/>
                </a:solidFill>
                <a:latin typeface="Calibri"/>
              </a:rPr>
              <a:t>Only 3 unique values per axis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RANDOM  (9 trials)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178040" y="2194560"/>
            <a:ext cx="0" cy="365760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78040" y="5852160"/>
            <a:ext cx="434340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64240" y="5897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hp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103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Calibri"/>
              </a:rPr>
              <a:t>hp 2</a:t>
            </a:r>
          </a:p>
        </p:txBody>
      </p:sp>
      <p:sp>
        <p:nvSpPr>
          <p:cNvPr id="28" name="Oval 27"/>
          <p:cNvSpPr/>
          <p:nvPr/>
        </p:nvSpPr>
        <p:spPr>
          <a:xfrm>
            <a:off x="8696033" y="4925976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52260" y="5169759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10404" y="4258048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75103" y="3817363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6361" y="4046773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20638" y="5112937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82717" y="2824310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27818" y="4700919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62004" y="2448571"/>
            <a:ext cx="182880" cy="182880"/>
          </a:xfrm>
          <a:prstGeom prst="ellipse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6035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C8"/>
                </a:solidFill>
                <a:latin typeface="Calibri"/>
              </a:rPr>
              <a:t>9 unique values per axis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49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Bayesian optimisation · five-step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Use trial history to predict where to evaluate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103120" cy="2011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All (θ, val_loss)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seen so far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329184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97480" y="2286000"/>
            <a:ext cx="2103120" cy="2011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4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514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Surrogate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1546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Fit a cheap model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(GP / TPE) of loss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over 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329184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92040" y="2286000"/>
            <a:ext cx="2103120" cy="2011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514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546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EI / UCB / TPE ratio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balances explore vs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exploit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95160" y="329184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86600" y="2286000"/>
            <a:ext cx="2103120" cy="2011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956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514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 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1546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argmax of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acquisition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(cheap)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9720" y="329184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81160" y="2286000"/>
            <a:ext cx="2103120" cy="20116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0412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514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15468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Run expensive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training, observe</a:t>
            </a:r>
          </a:p>
          <a:p>
            <a:pPr algn="ctr"/>
            <a:r>
              <a:rPr sz="1100" b="0">
                <a:solidFill>
                  <a:srgbClr val="F5F6F7"/>
                </a:solidFill>
                <a:latin typeface="Calibri"/>
              </a:rPr>
              <a:t>loss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972800" y="4297680"/>
            <a:ext cx="0" cy="82296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468880" y="5120640"/>
            <a:ext cx="8503920" cy="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468880" y="4297680"/>
            <a:ext cx="0" cy="822960"/>
          </a:xfrm>
          <a:prstGeom prst="line">
            <a:avLst/>
          </a:prstGeom>
          <a:ln w="12700">
            <a:solidFill>
              <a:srgbClr val="FF3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468880" y="4251960"/>
            <a:ext cx="0" cy="4572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Append → re-fit surrogate → repeat. Each evaluation makes the surrogate smarter.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B4C8"/>
                </a:solidFill>
                <a:latin typeface="Calibri"/>
              </a:rPr>
              <a:t>BO shines when each evaluation is expensive (training a deep net) and the search space is moderate-dim.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TPE · model the good and bad regions separately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Tree-structured Parzen Estimator — what Hyperopt uses by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64008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D8BFD"/>
                </a:solidFill>
                <a:latin typeface="Calibri"/>
              </a:rPr>
              <a:t>Split trials by score: top γ% (good)  vs  rest (bad)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" y="2194560"/>
            <a:ext cx="0" cy="384048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6035040"/>
            <a:ext cx="5852160" cy="0"/>
          </a:xfrm>
          <a:prstGeom prst="bentConnector3">
            <a:avLst/>
          </a:prstGeom>
          <a:ln w="25400">
            <a:solidFill>
              <a:srgbClr val="AAB4C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92240" y="6080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AB4C8"/>
                </a:solidFill>
                <a:latin typeface="Calibri"/>
              </a:rPr>
              <a:t>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6035040"/>
            <a:ext cx="69448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3848" y="6035040"/>
            <a:ext cx="69448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3296" y="6035040"/>
            <a:ext cx="69448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22744" y="6035040"/>
            <a:ext cx="69448" cy="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92192" y="6035039"/>
            <a:ext cx="69448" cy="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61640" y="6035037"/>
            <a:ext cx="69448" cy="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31088" y="6035034"/>
            <a:ext cx="69448" cy="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00536" y="6035029"/>
            <a:ext cx="69448" cy="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69984" y="6035019"/>
            <a:ext cx="69448" cy="1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39432" y="6035001"/>
            <a:ext cx="69449" cy="1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8881" y="6034970"/>
            <a:ext cx="69448" cy="3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78329" y="6034915"/>
            <a:ext cx="69448" cy="5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47777" y="6034821"/>
            <a:ext cx="69448" cy="9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17225" y="6034662"/>
            <a:ext cx="69448" cy="15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86673" y="6034399"/>
            <a:ext cx="69448" cy="26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56121" y="6033972"/>
            <a:ext cx="69448" cy="42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025569" y="6033287"/>
            <a:ext cx="69448" cy="68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95017" y="6032209"/>
            <a:ext cx="69448" cy="107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64465" y="6030541"/>
            <a:ext cx="69448" cy="166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233913" y="6028005"/>
            <a:ext cx="69449" cy="253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303362" y="6024215"/>
            <a:ext cx="69448" cy="379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372810" y="6018646"/>
            <a:ext cx="69448" cy="556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442258" y="6010608"/>
            <a:ext cx="69448" cy="803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511706" y="5999207"/>
            <a:ext cx="69448" cy="1140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581154" y="5983323"/>
            <a:ext cx="69448" cy="1588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650602" y="5961583"/>
            <a:ext cx="69448" cy="2174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720050" y="5932363"/>
            <a:ext cx="69448" cy="2922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89498" y="5893802"/>
            <a:ext cx="69448" cy="3856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58946" y="5843847"/>
            <a:ext cx="69448" cy="4995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28394" y="5780338"/>
            <a:ext cx="69449" cy="6350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997843" y="5701125"/>
            <a:ext cx="69448" cy="7921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67291" y="5604236"/>
            <a:ext cx="69448" cy="9688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136739" y="5488068"/>
            <a:ext cx="69448" cy="11616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206187" y="5351614"/>
            <a:ext cx="69448" cy="13645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275635" y="5194692"/>
            <a:ext cx="69448" cy="15692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45083" y="5018164"/>
            <a:ext cx="69448" cy="17652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414531" y="4824112"/>
            <a:ext cx="69448" cy="19405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483979" y="4615950"/>
            <a:ext cx="69448" cy="20816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553427" y="4398440"/>
            <a:ext cx="69448" cy="21751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622875" y="4177592"/>
            <a:ext cx="69449" cy="22084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692324" y="3960452"/>
            <a:ext cx="69448" cy="21714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761772" y="3754759"/>
            <a:ext cx="69448" cy="20569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831220" y="3568511"/>
            <a:ext cx="69448" cy="18624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900668" y="3409460"/>
            <a:ext cx="69448" cy="15905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970116" y="3284579"/>
            <a:ext cx="69448" cy="12488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039564" y="3199556"/>
            <a:ext cx="69448" cy="8502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109012" y="3158370"/>
            <a:ext cx="69448" cy="4118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178460" y="3158370"/>
            <a:ext cx="69448" cy="460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247908" y="3162976"/>
            <a:ext cx="69448" cy="5017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17356" y="3213154"/>
            <a:ext cx="69449" cy="9337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386805" y="3306526"/>
            <a:ext cx="69448" cy="13221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56253" y="3438745"/>
            <a:ext cx="69448" cy="16508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25701" y="3603825"/>
            <a:ext cx="69448" cy="19077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95149" y="3794598"/>
            <a:ext cx="69448" cy="20862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664597" y="4003219"/>
            <a:ext cx="69448" cy="21848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734045" y="4221703"/>
            <a:ext cx="69448" cy="22071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803493" y="4442418"/>
            <a:ext cx="69448" cy="21608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872941" y="4658502"/>
            <a:ext cx="69448" cy="205678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942389" y="4864180"/>
            <a:ext cx="69448" cy="19077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011837" y="5054957"/>
            <a:ext cx="69449" cy="17273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081286" y="5227689"/>
            <a:ext cx="69448" cy="15286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150734" y="5380550"/>
            <a:ext cx="69448" cy="13235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220182" y="5512903"/>
            <a:ext cx="69448" cy="11220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289630" y="5625112"/>
            <a:ext cx="69448" cy="93211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359078" y="5718323"/>
            <a:ext cx="69448" cy="7590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428526" y="5794228"/>
            <a:ext cx="69448" cy="6062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497974" y="5854853"/>
            <a:ext cx="69448" cy="4750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567422" y="5902358"/>
            <a:ext cx="69448" cy="3653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636870" y="5938892"/>
            <a:ext cx="69448" cy="27582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06318" y="5966474"/>
            <a:ext cx="69449" cy="2044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775767" y="5986920"/>
            <a:ext cx="69448" cy="14887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845215" y="6001807"/>
            <a:ext cx="69448" cy="1064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914663" y="6012453"/>
            <a:ext cx="69448" cy="7479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984111" y="6019932"/>
            <a:ext cx="69448" cy="516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053559" y="6025096"/>
            <a:ext cx="69448" cy="3503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123007" y="6028599"/>
            <a:ext cx="69448" cy="2335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192455" y="6030934"/>
            <a:ext cx="69448" cy="1530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261903" y="6032464"/>
            <a:ext cx="69448" cy="986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331351" y="6033450"/>
            <a:ext cx="69449" cy="624"/>
          </a:xfrm>
          <a:prstGeom prst="line">
            <a:avLst/>
          </a:prstGeom>
          <a:ln w="31750">
            <a:solidFill>
              <a:srgbClr val="4CC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14400" y="4850703"/>
            <a:ext cx="69448" cy="70853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83848" y="4779372"/>
            <a:ext cx="69448" cy="71331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3296" y="4708003"/>
            <a:ext cx="69448" cy="71369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22744" y="4637065"/>
            <a:ext cx="69448" cy="7093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192192" y="4567046"/>
            <a:ext cx="69448" cy="70019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261640" y="4498452"/>
            <a:ext cx="69448" cy="68594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331088" y="4431797"/>
            <a:ext cx="69448" cy="66655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400536" y="4367601"/>
            <a:ext cx="69448" cy="64196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469984" y="4306381"/>
            <a:ext cx="69448" cy="6122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539432" y="4248643"/>
            <a:ext cx="69449" cy="5773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608881" y="4194880"/>
            <a:ext cx="69448" cy="53763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678329" y="4145557"/>
            <a:ext cx="69448" cy="49323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747777" y="4101112"/>
            <a:ext cx="69448" cy="44445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817225" y="4061945"/>
            <a:ext cx="69448" cy="39167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886673" y="4028410"/>
            <a:ext cx="69448" cy="33535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956121" y="4000816"/>
            <a:ext cx="69448" cy="27594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025569" y="3979416"/>
            <a:ext cx="69448" cy="2140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095017" y="3964405"/>
            <a:ext cx="69448" cy="15011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164465" y="3955915"/>
            <a:ext cx="69448" cy="849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233913" y="3954015"/>
            <a:ext cx="69449" cy="190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303362" y="3954015"/>
            <a:ext cx="69448" cy="4691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372810" y="3958706"/>
            <a:ext cx="69448" cy="11217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442258" y="3969923"/>
            <a:ext cx="69448" cy="17612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511706" y="3987535"/>
            <a:ext cx="69448" cy="2380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581154" y="4011343"/>
            <a:ext cx="69448" cy="29743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650602" y="4041086"/>
            <a:ext cx="69448" cy="35357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720050" y="4076443"/>
            <a:ext cx="69448" cy="4059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789498" y="4117033"/>
            <a:ext cx="69448" cy="45393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858946" y="4162426"/>
            <a:ext cx="69448" cy="49715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928394" y="4212141"/>
            <a:ext cx="69449" cy="5351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997843" y="4265659"/>
            <a:ext cx="69448" cy="56762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067291" y="4322421"/>
            <a:ext cx="69448" cy="59421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136739" y="4381842"/>
            <a:ext cx="69448" cy="6146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206187" y="4443310"/>
            <a:ext cx="69448" cy="62892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275635" y="4506202"/>
            <a:ext cx="69448" cy="63679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345083" y="4569881"/>
            <a:ext cx="69448" cy="63829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414531" y="4633710"/>
            <a:ext cx="69448" cy="6334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483979" y="4697058"/>
            <a:ext cx="69448" cy="62243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553427" y="4759301"/>
            <a:ext cx="69448" cy="6053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622875" y="4819839"/>
            <a:ext cx="69449" cy="58253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692324" y="4878092"/>
            <a:ext cx="69448" cy="55422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761772" y="4933514"/>
            <a:ext cx="69448" cy="52083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831220" y="4985597"/>
            <a:ext cx="69448" cy="48279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900668" y="5033876"/>
            <a:ext cx="69448" cy="44061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970116" y="5077937"/>
            <a:ext cx="69448" cy="39484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039564" y="5117421"/>
            <a:ext cx="69448" cy="3460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09012" y="5152029"/>
            <a:ext cx="69448" cy="29502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178460" y="5181531"/>
            <a:ext cx="69448" cy="24234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47908" y="5205765"/>
            <a:ext cx="69448" cy="1887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317356" y="5224643"/>
            <a:ext cx="69449" cy="13511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386805" y="5238154"/>
            <a:ext cx="69448" cy="8214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456253" y="5246368"/>
            <a:ext cx="69448" cy="3065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525701" y="5247577"/>
            <a:ext cx="69448" cy="1856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595149" y="5241108"/>
            <a:ext cx="69448" cy="6469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664597" y="5230408"/>
            <a:ext cx="69448" cy="1070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4734045" y="5215929"/>
            <a:ext cx="69448" cy="14479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4803493" y="5198190"/>
            <a:ext cx="69448" cy="17739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4872941" y="5177766"/>
            <a:ext cx="69448" cy="20424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942389" y="5155279"/>
            <a:ext cx="69448" cy="22487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5011837" y="5131391"/>
            <a:ext cx="69449" cy="2388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5081286" y="5106786"/>
            <a:ext cx="69448" cy="24605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5150734" y="5082164"/>
            <a:ext cx="69448" cy="24622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5220182" y="5058223"/>
            <a:ext cx="69448" cy="23941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289630" y="5035645"/>
            <a:ext cx="69448" cy="2257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5359078" y="5015087"/>
            <a:ext cx="69448" cy="2055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428526" y="4997160"/>
            <a:ext cx="69448" cy="17927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497974" y="4982422"/>
            <a:ext cx="69448" cy="14738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567422" y="4971367"/>
            <a:ext cx="69448" cy="11055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5636870" y="4964407"/>
            <a:ext cx="69448" cy="696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5706318" y="4961875"/>
            <a:ext cx="69449" cy="2532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775767" y="4961875"/>
            <a:ext cx="69448" cy="2134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845215" y="4964009"/>
            <a:ext cx="69448" cy="6947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914663" y="4970956"/>
            <a:ext cx="69448" cy="11807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984111" y="4982763"/>
            <a:ext cx="69448" cy="16621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053559" y="4999384"/>
            <a:ext cx="69448" cy="2130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6123007" y="5020684"/>
            <a:ext cx="69448" cy="25754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6192455" y="5046438"/>
            <a:ext cx="69448" cy="29907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6261903" y="5076345"/>
            <a:ext cx="69448" cy="33692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331351" y="5110037"/>
            <a:ext cx="69449" cy="37050"/>
          </a:xfrm>
          <a:prstGeom prst="line">
            <a:avLst/>
          </a:prstGeom>
          <a:ln w="31750">
            <a:solidFill>
              <a:srgbClr val="E0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168"/>
          <p:cNvSpPr/>
          <p:nvPr/>
        </p:nvSpPr>
        <p:spPr>
          <a:xfrm>
            <a:off x="914400" y="2011680"/>
            <a:ext cx="365760" cy="9144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37160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CC070"/>
                </a:solidFill>
                <a:latin typeface="Calibri"/>
              </a:rPr>
              <a:t>ℓ(θ) — good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200400" y="2011680"/>
            <a:ext cx="365760" cy="9144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657600" y="1920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4B4B"/>
                </a:solidFill>
                <a:latin typeface="Calibri"/>
              </a:rPr>
              <a:t>g(θ) — bad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178040" y="1554480"/>
            <a:ext cx="45720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360920" y="16916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ACQUISITION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360920" y="2194560"/>
            <a:ext cx="42062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EI(θ)  ∝  ℓ(θ) / g(θ)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Pick θ that is: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• likely under "good" (ℓ high)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• unlikely under "bad" (g low)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TPE is robust to mixed spaces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(continuous + categorical),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which is why Hyperopt uses it.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Tradeoffs: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simple, scalable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• less accurate uncertainty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than a GP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Hyperopt · fmin, hp.choice, SparkTrials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Three things to know that hurt people who don't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749039" cy="50292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hp.choice ≠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383279" cy="397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fmin returns the chosen INDEX, not the value.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best['solver'] = 2 — not 'lbfgs'.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Use  space_eval(space, best)  to recover the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554480"/>
            <a:ext cx="3749039" cy="50292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21826"/>
                </a:solidFill>
                <a:latin typeface="Calibri"/>
              </a:rPr>
              <a:t>SparkTrials parallelism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94560"/>
            <a:ext cx="3383279" cy="397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Hyperopt runs trials sequentially by default.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SparkTrials(parallelism=p)  runs p trials at once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across the cluster — but more parallel = LESS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history to inform the next trial.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Rule of thumb: parallelism ≈ √max_evals.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8" y="1554480"/>
            <a:ext cx="3749039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554480"/>
            <a:ext cx="3749039" cy="50292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8" y="15544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MLflow autologging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2194560"/>
            <a:ext cx="3383279" cy="397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Each trial = one MLflow run.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Pass an MLflow `mlflow.start_run()` parent run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and Hyperopt nests children under it.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Great for retro-analysis of the search.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Optuna · samplers + pruners + multi-objective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Newer than Hyperopt, with first-class pruning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819"/>
                <a:gridCol w="4336366"/>
                <a:gridCol w="4336366"/>
              </a:tblGrid>
              <a:tr h="5715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Hyperopt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Optuna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Default sampler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TPE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TPE; also CMA-ES, NSGA-II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Define-by-run search space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 — declare upfront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 — define inside the objective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Pruners (early-stop bad trials)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Median, ASHA, Hyperband, Percentile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Multi-objective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 — Pareto front out of the box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Distributed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SparkTrials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RDB storage; Joblib / Dask integrations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Visualisation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Custom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Built-in plotly dashboards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Databricks integration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First-class (mature)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Works; MLflow callback available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3E00"/>
                </a:solidFill>
                <a:latin typeface="Calibri"/>
              </a:rPr>
              <a:t>Both ship working TPE. Optuna's pruners are the differentiator for expensive training loops.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Spark from 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55 – 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distributed compute?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When a dataset doesn't fit one machine, you scale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SCALE UP  (bigger box)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26080"/>
            <a:ext cx="914400" cy="109728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16 GB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560320"/>
            <a:ext cx="1280160" cy="146304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651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64 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011680"/>
            <a:ext cx="1737360" cy="201168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1031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256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Hardware ceiling exists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Cost grows super-linearly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Single point of failure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Doesn't help if I/O bound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SCALE OUT  (more boxes)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74320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0840" y="292608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926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274320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0" y="292608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926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274320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41080" y="292608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926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274320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0" y="292608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2926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0" y="274320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61320" y="292608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20" y="2926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02336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20840" y="420624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206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402336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80960" y="420624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4206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02336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41080" y="420624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206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64040" y="402336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01200" y="420624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4206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4023360"/>
            <a:ext cx="822960" cy="9144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61320" y="4206240"/>
            <a:ext cx="548640" cy="548640"/>
          </a:xfrm>
          <a:prstGeom prst="ellipse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61320" y="4206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CC070"/>
                </a:solidFill>
                <a:latin typeface="Calibri"/>
              </a:rPr>
              <a:t>CPU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3492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Linear capacity in nodes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Commodity hardware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Need a programming model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  → Spark / MapReduce / etc.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MapReduce vs Spark · disk vs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Same shuffle dance — but one stays in RAM between stages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74552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C042"/>
                </a:solidFill>
                <a:latin typeface="Calibri"/>
              </a:rPr>
              <a:t>MAPREDUCE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1325880" cy="41148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94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21826"/>
                </a:solidFill>
                <a:latin typeface="Calibri"/>
              </a:rPr>
              <a:t>HDFS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194560"/>
            <a:ext cx="1325880" cy="411480"/>
          </a:xfrm>
          <a:prstGeom prst="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6F7"/>
                </a:solidFill>
                <a:latin typeface="Calibri"/>
              </a:rPr>
              <a:t>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94560"/>
            <a:ext cx="1325880" cy="41148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94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21826"/>
                </a:solidFill>
                <a:latin typeface="Calibri"/>
              </a:rPr>
              <a:t>HDFS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194560"/>
            <a:ext cx="1325880" cy="411480"/>
          </a:xfrm>
          <a:prstGeom prst="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94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6F7"/>
                </a:solidFill>
                <a:latin typeface="Calibri"/>
              </a:rPr>
              <a:t>REDUCE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194560"/>
            <a:ext cx="1325880" cy="41148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194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21826"/>
                </a:solidFill>
                <a:latin typeface="Calibri"/>
              </a:rPr>
              <a:t>HDFS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194560"/>
            <a:ext cx="1325880" cy="411480"/>
          </a:xfrm>
          <a:prstGeom prst="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6F7"/>
                </a:solidFill>
                <a:latin typeface="Calibri"/>
              </a:rPr>
              <a:t>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194560"/>
            <a:ext cx="1325880" cy="41148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1945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21826"/>
                </a:solidFill>
                <a:latin typeface="Calibri"/>
              </a:rPr>
              <a:t>HDFS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Each intermediate result hits disk → I/O dominates.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57600"/>
            <a:ext cx="11274552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CC070"/>
                </a:solidFill>
                <a:latin typeface="Calibri"/>
              </a:rPr>
              <a:t>SPARK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023360"/>
            <a:ext cx="1325880" cy="41148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0233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21826"/>
                </a:solidFill>
                <a:latin typeface="Calibri"/>
              </a:rPr>
              <a:t>HDFS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023360"/>
            <a:ext cx="1325880" cy="411480"/>
          </a:xfrm>
          <a:prstGeom prst="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40233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6F7"/>
                </a:solidFill>
                <a:latin typeface="Calibri"/>
              </a:rPr>
              <a:t>RDD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023360"/>
            <a:ext cx="1325880" cy="411480"/>
          </a:xfrm>
          <a:prstGeom prst="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40233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6F7"/>
                </a:solidFill>
                <a:latin typeface="Calibri"/>
              </a:rPr>
              <a:t>RDD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4023360"/>
            <a:ext cx="1325880" cy="411480"/>
          </a:xfrm>
          <a:prstGeom prst="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40233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6F7"/>
                </a:solidFill>
                <a:latin typeface="Calibri"/>
              </a:rPr>
              <a:t>RDD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023360"/>
            <a:ext cx="1325880" cy="411480"/>
          </a:xfrm>
          <a:prstGeom prst="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40233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6F7"/>
                </a:solidFill>
                <a:latin typeface="Calibri"/>
              </a:rPr>
              <a:t>RDD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4023360"/>
            <a:ext cx="1325880" cy="411480"/>
          </a:xfrm>
          <a:prstGeom prst="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0233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5F6F7"/>
                </a:solidFill>
                <a:latin typeface="Calibri"/>
              </a:rPr>
              <a:t>RDD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4023360"/>
            <a:ext cx="1325880" cy="41148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02336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21826"/>
                </a:solidFill>
                <a:latin typeface="Calibri"/>
              </a:rPr>
              <a:t>HDFS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09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Intermediate state in memory → 10-100× faster for iterative ML / graph workloads.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6F7"/>
                </a:solidFill>
                <a:latin typeface="Calibri"/>
              </a:rPr>
              <a:t>Spark IS slower than MR if every dataset is read once and never reused.</a:t>
            </a:r>
          </a:p>
          <a:p>
            <a:pPr algn="ctr"/>
            <a:r>
              <a:rPr sz="1300" b="0">
                <a:solidFill>
                  <a:srgbClr val="F5F6F7"/>
                </a:solidFill>
                <a:latin typeface="Calibri"/>
              </a:rPr>
              <a:t>It wins when intermediate state would otherwise re-touch disk.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Spark architecture · driver, executors, cluster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Who decides what, who does the work, and who books the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200400" cy="228600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Holds SparkContext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Builds DAG, plans stages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Schedules tasks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Collects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00400" cy="2286000"/>
          </a:xfrm>
          <a:prstGeom prst="round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21826"/>
                </a:solidFill>
                <a:latin typeface="Calibri"/>
              </a:rPr>
              <a:t>CLUSTER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21826"/>
                </a:solidFill>
                <a:latin typeface="Calibri"/>
              </a:rPr>
              <a:t>• YARN / k8s / standalone</a:t>
            </a:r>
          </a:p>
          <a:p>
            <a:pPr algn="l"/>
            <a:r>
              <a:rPr sz="1200" b="0">
                <a:solidFill>
                  <a:srgbClr val="121826"/>
                </a:solidFill>
                <a:latin typeface="Calibri"/>
              </a:rPr>
              <a:t>• Allocates executors</a:t>
            </a:r>
          </a:p>
          <a:p>
            <a:pPr algn="l"/>
            <a:r>
              <a:rPr sz="1200" b="0">
                <a:solidFill>
                  <a:srgbClr val="121826"/>
                </a:solidFill>
                <a:latin typeface="Calibri"/>
              </a:rPr>
              <a:t>• Tracks resources</a:t>
            </a:r>
          </a:p>
          <a:p>
            <a:pPr algn="l"/>
            <a:r>
              <a:rPr sz="1200" b="0">
                <a:solidFill>
                  <a:srgbClr val="121826"/>
                </a:solidFill>
                <a:latin typeface="Calibri"/>
              </a:rPr>
              <a:t>• Restarts failed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383280" cy="2286000"/>
          </a:xfrm>
          <a:prstGeom prst="round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EXECUTORS  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Run tasks (CPU cores)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Hold partitions in memory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Cache RDD / DF data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Report status to driver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2743200"/>
            <a:ext cx="731520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657600" y="3200400"/>
            <a:ext cx="731520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2743200"/>
            <a:ext cx="731520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589520" y="3200400"/>
            <a:ext cx="731520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0" y="23774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2918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774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2918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11274552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On Databricks the cluster manager is hidden behind the cluster UI; you choose driver size + worker count + Photon, and the platform talks to the underlying VM service for you.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Two cluster modes worth knowing: shared-access (UC-secured, multi-user) and single-user (full Spark surface, your own pipeline).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RDD → DataFrame → Dataset · evolution of abstractions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Each generation traded freedom for performance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4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866"/>
                <a:gridCol w="2909561"/>
                <a:gridCol w="2909561"/>
                <a:gridCol w="2909561"/>
              </a:tblGrid>
              <a:tr h="5715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RDD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DataFrame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Available since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Spark 0.x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Spark 1.3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Spark 1.6 (Scala/Java only)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Schema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None — opaque objects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 — named columns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 + compile-time types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Catalyst optimisation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Tungsten encoding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Type safety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Compile-time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Compile-time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Unstructured, custom ops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SQL / DataFrame ops (default)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Typed Scala / Java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PySpark default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Available (legacy)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 — what you'll use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N/A (no Python types)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3E00"/>
                </a:solidFill>
                <a:latin typeface="Calibri"/>
              </a:rPr>
              <a:t>Rule of thumb: use DataFrames. Drop to RDD only when you must (custom partitioning, opaque blobs).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Catalyst optimiser · four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How a `df.filter().groupBy().agg()` call becomes JVM bytecode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697480" cy="2743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734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734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Parse SQL / DF ops.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Resolve column names against schema.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Produce logical plan.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365760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6120" y="2286000"/>
            <a:ext cx="2697480" cy="2743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6626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626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14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Logical opt.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10896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Rewrite plan with rules: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predicate pushdown,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constant folding,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projection pruning.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365760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35040" y="2286000"/>
            <a:ext cx="2697480" cy="2743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5518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518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14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Physical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0896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Pick concrete operators: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SortMergeJoin vs BroadcastHashJoin.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Cost-based choices.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3657600"/>
            <a:ext cx="9144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23960" y="2286000"/>
            <a:ext cx="2697480" cy="2743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44100" y="2057400"/>
            <a:ext cx="457200" cy="45720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41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514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Code 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10896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Tungsten WSCG bytecode.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Compiles whole stages into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single inlined loops.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onsolas"/>
              </a:rPr>
              <a:t>df.explain(True)  shows you all four plans.   The physical plan is what actually runs.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Narrow vs wide transformations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Wide ⇒ shuffle ⇒ stage boundary ⇒ network I/O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319"/>
                <a:gridCol w="4227957"/>
                <a:gridCol w="4227957"/>
                <a:gridCol w="1409319"/>
              </a:tblGrid>
              <a:tr h="59436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Partition mapping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Shuffle?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Narrow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select, filter, map, withColumn, union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1 parent partition → 1 child partition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Narrow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coalesce(n)  (when reducing only)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Merges adjacent partitions in place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Wide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groupBy, agg, distinct, dropDuplicates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Many → many; hash-shuffle by key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Wide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join (sort-merge)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Co-locate keys on both sides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Wide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join (broadcast)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Small side replicated; large side stays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Broadcast only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Wide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repartition(n) / repartition('col')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Reshuffle to n partitions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943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Wide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orderBy / sortByKey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Range partition then local sort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3E00"/>
                </a:solidFill>
                <a:latin typeface="Calibri"/>
              </a:rPr>
              <a:t>Stages = chains of narrow ops; wide ops are the boundaries.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59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Shuffle anatomy · three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Map-side write → network transfer → reduce-side 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82880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Mapper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82880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Mapper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182880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Mapper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182880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Mapper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103120"/>
            <a:ext cx="1828800" cy="731520"/>
          </a:xfrm>
          <a:prstGeom prst="round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21031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Reducer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3108960"/>
            <a:ext cx="1828800" cy="731520"/>
          </a:xfrm>
          <a:prstGeom prst="round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31089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Reducer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4114800"/>
            <a:ext cx="1828800" cy="731520"/>
          </a:xfrm>
          <a:prstGeom prst="round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41148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Reducer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2286000"/>
            <a:ext cx="6400800" cy="25603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23317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3E00"/>
                </a:solidFill>
                <a:latin typeface="Calibri"/>
              </a:rPr>
              <a:t>SHUFFLE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86000" y="2057400"/>
            <a:ext cx="7589520" cy="41148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2057400"/>
            <a:ext cx="7589520" cy="141732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0" y="2057400"/>
            <a:ext cx="7589520" cy="242316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286000" y="2468880"/>
            <a:ext cx="7589520" cy="41148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286000" y="2880360"/>
            <a:ext cx="7589520" cy="59436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86000" y="2880360"/>
            <a:ext cx="7589520" cy="160020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286000" y="2468880"/>
            <a:ext cx="7589520" cy="123444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86000" y="3474720"/>
            <a:ext cx="7589520" cy="22860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86000" y="3703320"/>
            <a:ext cx="7589520" cy="77724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86000" y="2468880"/>
            <a:ext cx="7589520" cy="205740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286000" y="3474720"/>
            <a:ext cx="7589520" cy="105156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286000" y="4480560"/>
            <a:ext cx="7589520" cy="45720"/>
          </a:xfrm>
          <a:prstGeom prst="line">
            <a:avLst/>
          </a:prstGeom>
          <a:ln w="762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017520" y="29260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6F7"/>
                </a:solidFill>
                <a:latin typeface="Calibri"/>
              </a:rPr>
              <a:t>1.  WRITE — partition by key, spill to disk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3832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6F7"/>
                </a:solidFill>
                <a:latin typeface="Calibri"/>
              </a:rPr>
              <a:t>2.  TRANSFER — network fetch from all mappers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8404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6F7"/>
                </a:solidFill>
                <a:latin typeface="Calibri"/>
              </a:rPr>
              <a:t>3.  READ — merge, sort, build new partition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74552" cy="118872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04B4B"/>
                </a:solidFill>
                <a:latin typeface="Calibri"/>
              </a:rPr>
              <a:t>WHY YOU CARE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Shuffles burn CPU, disk, and network — they are the single biggest cause of slow Spark jobs.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Mitigate: broadcast-join small tables; pre-partition by join key; tune shuffle partitions; use AQE.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AQE · adaptive query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Replan stages at runtime using observed statistics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WITHOUT AQE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Planner picks operators using estimated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row counts and stats at compile time.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If a join key has skew, one task gets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all the data → the whole stage hangs.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If a small table grows past a threshold,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BroadcastHashJoin still tries — OOM.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200 shuffle partitions on a 5MB result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= 199 wasted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WITH AQE  (default since DBR 7.3)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After each stage, real stats flow back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to the planner. Three rewrites: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Dynamically COALESCE small shuffle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  partitions → fewer wasted tasks.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Switch SortMergeJoin → Broadcast if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  one side ends up small enough.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Detect and split SKEWED partitions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  into smaller balanced ones.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spark.sql.adaptive.enabled =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pyspark.ml in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62 – 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Pipeline pattern · Transformer + Estimator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Two interfaces. Everything in pyspark.ml is one or the other.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8BFD"/>
                </a:solidFill>
                <a:latin typeface="Calibri"/>
              </a:rPr>
              <a:t>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DataFrame → DataFrame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.transform(df) is the only method.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Examples:  VectorAssembler, Bucketizer,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Tokenizer, StringIndexerModel, a fitted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LogisticRegressionModel.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86400" cy="24231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ESTIMATOR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DataFrame → Transformer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.fit(df) returns a fitted Model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(which IS a Transformer).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Examples:  StringIndexer, StandardScaler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before fit, LogisticRegression, RandomForest,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any *.fit()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PIPELINE = chained stages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377440"/>
            <a:ext cx="5120640" cy="457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3774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5F6F7"/>
                </a:solidFill>
                <a:latin typeface="Calibri"/>
              </a:rPr>
              <a:t>Indexer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3774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CC070"/>
                </a:solidFill>
                <a:latin typeface="Calibri"/>
              </a:rPr>
              <a:t>Estimator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926080"/>
            <a:ext cx="5120640" cy="457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926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5F6F7"/>
                </a:solidFill>
                <a:latin typeface="Calibri"/>
              </a:rPr>
              <a:t>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926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CC070"/>
                </a:solidFill>
                <a:latin typeface="Calibri"/>
              </a:rPr>
              <a:t>Estimator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474720"/>
            <a:ext cx="5120640" cy="457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474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5F6F7"/>
                </a:solidFill>
                <a:latin typeface="Calibri"/>
              </a:rPr>
              <a:t>Assembler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4747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CC070"/>
                </a:solidFill>
                <a:latin typeface="Calibri"/>
              </a:rPr>
              <a:t>Estimator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023360"/>
            <a:ext cx="5120640" cy="457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023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5F6F7"/>
                </a:solidFill>
                <a:latin typeface="Calibri"/>
              </a:rPr>
              <a:t>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40233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CC070"/>
                </a:solidFill>
                <a:latin typeface="Calibri"/>
              </a:rPr>
              <a:t>Estimator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572000"/>
            <a:ext cx="5120640" cy="4572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572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5F6F7"/>
                </a:solidFill>
                <a:latin typeface="Calibri"/>
              </a:rPr>
              <a:t>LR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4572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CC070"/>
                </a:solidFill>
                <a:latin typeface="Calibri"/>
              </a:rPr>
              <a:t>Estimator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035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Pipeline.fit(train) walks the stages: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fit each estimator on the data so far, transform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before passing on.   Output = PipelineModel.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Common transformers · what each computes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The ones the exam tests, the ones you'll use every 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443"/>
                <a:gridCol w="1555110"/>
                <a:gridCol w="3887776"/>
                <a:gridCol w="3110221"/>
              </a:tblGrid>
              <a:tr h="48463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it shows up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VectorAssembler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Combine columns → single 'features' vector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Always — Spark ML needs vectors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StringIndexer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Estimator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Categorical strings → 0…k-1 indices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Pre-OHE or as labels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OneHotEncoder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Estimator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Indices → sparse one-hot vectors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Categorical features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StandardScaler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Estimator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Centre &amp; scale columns to unit variance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Distance/coef models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MinMaxScaler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Estimator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Rescale to [min, max]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Bounded inputs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Bucketizer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Continuous → bins via splits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Discretise before tree / OHE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QuantileDiscretizer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Estimator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Bins by quantiles (learned)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Robust binning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Imputer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Estimator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Fill nulls with mean / median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Tabular pipelines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48463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Tokenizer / RegexTokenizer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String → array of tokens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Text features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CrossValidator · the G × F + 1 model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Why a 'small' grid blows up your training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74552" cy="13716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onsolas"/>
              </a:rPr>
              <a:t>Models fit  =  G × F  + 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5486400" cy="32918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D8BFD"/>
                </a:solidFill>
                <a:latin typeface="Calibri"/>
              </a:rPr>
              <a:t>WORKED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ParamGrid: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  regParam ∈ {0.01, 0.1, 1.0}    (3)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  elasticNetParam ∈ {0.0, 0.5}    (2)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  maxIter ∈ {50, 100, 200}        (3)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G = 3 × 2 × 3 = 18 combinations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F = 5  (5-fold CV)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Models fit = 18 × 5 + 1 = 91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108960"/>
            <a:ext cx="5486400" cy="32918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200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C070"/>
                </a:solidFill>
                <a:latin typeface="Calibri"/>
              </a:rPr>
              <a:t>WHY THE "+ 1"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1188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G × F fits compute the CV score for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  every grid combination.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The best combination is then refit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  ONCE on the FULL training set.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• That final model is what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  cvModel.bestModel returns.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Set collectSubModels=True to keep all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fold-level fits (memory cost!).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Evaluators · pick the metric, hand it to CV / TVS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One evaluator class per task type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221"/>
                <a:gridCol w="2721443"/>
                <a:gridCol w="5442887"/>
              </a:tblGrid>
              <a:tr h="653142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Evaluator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metricName options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BinaryClassificationEvaluator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2-class classification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areaUnderROC (default), areaUnderPR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MulticlassClassificationEvaluator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&gt;2 class classification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f1 (default), accuracy, weightedPrecision, weightedRecall, logLoss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MultilabelClassificationEvaluator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Multi-label problems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hammingLoss, precision, recall, f1Measure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RegressionEvaluator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rmse (default), mse, mae, r2, var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RankingEvaluator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Recommendation ranking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meanAveragePrecision, ndcgAtK, precisionAtK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6531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ClusteringEvaluator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Unsupervised clustering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silhouette (default), squared Euclidean / cosine variants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3E00"/>
                </a:solidFill>
                <a:latin typeface="Calibri"/>
              </a:rPr>
              <a:t>CV / TVS minimise loss by maximising the evaluator score — sign handled internally.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Pipeline persistence · save once, load anywhere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The whole pipeline (every stage) round-trips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128016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PipelineModel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(fitted)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103120"/>
            <a:ext cx="3474720" cy="12801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.write().overwrite()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.save(path)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03120"/>
            <a:ext cx="3474720" cy="12801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metadata + parquet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stages/*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2743200"/>
            <a:ext cx="18288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2743200"/>
            <a:ext cx="18288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4114800"/>
            <a:ext cx="3474720" cy="12801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Path on DBFS / UC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4114800"/>
            <a:ext cx="3474720" cy="12801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1B2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411480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PipelineModel.load(path)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114800"/>
            <a:ext cx="3474720" cy="1280160"/>
          </a:xfrm>
          <a:prstGeom prst="round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11480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.transform(new_df)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4754880"/>
            <a:ext cx="18288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9520" y="4754880"/>
            <a:ext cx="18288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5669280"/>
            <a:ext cx="11274552" cy="7772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7455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6F7"/>
                </a:solidFill>
                <a:latin typeface="Calibri"/>
              </a:rPr>
              <a:t>Always overwrite() in re-runnable jobs.  Custom Python stages must subclass DefaultParamsWritable to round-trip.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When pyspark.ml isn't enough · pandas UDFs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Bring scikit-learn / XGBoost into Spark with Arrow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3382365"/>
                <a:gridCol w="3382365"/>
                <a:gridCol w="2630728"/>
              </a:tblGrid>
              <a:tr h="841248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Decorator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Input / Output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8412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Series → Series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@pandas_udf(returnType)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pd.Series → pd.Series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Row-wise scalar transforms (vectorised)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8412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Iterator of Series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@pandas_udf(returnType)
Iterator[pd.Series] → Iterator[pd.Series]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Stream of batches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Heavy init once per executor (load model once)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8412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GroupedMap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df.groupBy(k).applyInPandas(fn, schema)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pd.DataFrame → pd.DataFrame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Train a model PER GROUP (per store, per SKU)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8412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mapInPandas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df.mapInPandas(fn, schema)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Iterator[pd.DataFrame] → Iterator[pd.DataFrame]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F5F6F7"/>
                          </a:solidFill>
                          <a:latin typeface="Calibri"/>
                        </a:rPr>
                        <a:t>Batched inference with sklearn / XGB / TF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Arrow handles the JVM ↔ Python serialisation; you operate on familiar pandas inside the UDF.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66-67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Databricks Platform &amp; MLflow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68 – 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Workspace anatomy · the objects you'll touch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Notebook, cluster, job, model, catalog — each has its own 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749039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749039" cy="45720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3832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Code + markdown + results.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Multi-language (PY/SQL/R/SCALA).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749039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645920"/>
            <a:ext cx="3749039" cy="4572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64592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240280"/>
            <a:ext cx="33832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Driver + workers + DBR.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All-purpose vs job vs SQL warehouse.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645920"/>
            <a:ext cx="3749039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645920"/>
            <a:ext cx="3749039" cy="45720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64592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21826"/>
                </a:solidFill>
                <a:latin typeface="Calibri"/>
              </a:rPr>
              <a:t>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240280"/>
            <a:ext cx="33832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Scheduled / triggered runs.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Tasks form a DAG with retries.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749039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A06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3749039" cy="457200"/>
          </a:xfrm>
          <a:prstGeom prst="rect">
            <a:avLst/>
          </a:prstGeom>
          <a:solidFill>
            <a:srgbClr val="A06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33832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Git-synced notebook folder.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Commit, pull, branch in-place.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023360"/>
            <a:ext cx="3749039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4023360"/>
            <a:ext cx="3749039" cy="4572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402336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617720"/>
            <a:ext cx="33832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MLflow registered model under UC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(catalog.schema.model_name).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4023360"/>
            <a:ext cx="3749039" cy="219456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9" y="4023360"/>
            <a:ext cx="3749039" cy="45720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59" y="402336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4617720"/>
            <a:ext cx="33832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Top of UC namespace —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catalog.schema.table | volume | function.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DBR ML runtime · what comes pre-installed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Pick the runtime → libraries + drivers + Photon are picked for you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455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183"/>
                <a:gridCol w="5203639"/>
                <a:gridCol w="3902729"/>
              </a:tblGrid>
              <a:tr h="5715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Pre-installed (ML runtime)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FF3E0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Core Spark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Apache Spark + Photon (vectorised engine)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Photon enabled per cluster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ML libs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scikit-learn, XGBoost, LightGBM, statsmodels, MLflow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Version pinned per DBR ML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DL libs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PyTorch, TensorFlow, Keras, transformers (DBR ML)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GPU variant has CUDA + cuDNN matched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HPO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Hyperopt with SparkTrials, Optuna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MLflow autolog integration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Feature store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databricks-feature-engineering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UC-native point-in-time joins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AutoML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databricks.automl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Glass-box notebooks generated per trial</a:t>
                      </a:r>
                    </a:p>
                  </a:txBody>
                  <a:tcPr>
                    <a:solidFill>
                      <a:srgbClr val="222C40"/>
                    </a:solidFill>
                  </a:tcPr>
                </a:tc>
              </a:tr>
              <a:tr h="5715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GPU drivers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CUDA, cuDNN, NCCL bundled in GPU variant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F5F6F7"/>
                          </a:solidFill>
                          <a:latin typeface="Calibri"/>
                        </a:rPr>
                        <a:t>No manual setup needed</a:t>
                      </a:r>
                    </a:p>
                  </a:txBody>
                  <a:tcPr>
                    <a:solidFill>
                      <a:srgbClr val="1B23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3E00"/>
                </a:solidFill>
                <a:latin typeface="Calibri"/>
              </a:rPr>
              <a:t>Avoid pip-installing things the runtime already provides — version drift is the #1 "works on my notebook"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68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Unity Catalog · three-level namespace + permission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catalog.schema.object  — replaces hive_metastore for new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74552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onsolas"/>
              </a:rPr>
              <a:t>catalog  .  schema  . 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269748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697480" cy="4572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METASTORE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697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One per region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(account-level)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834640"/>
            <a:ext cx="269748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834640"/>
            <a:ext cx="2697480" cy="45720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34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429000"/>
            <a:ext cx="2697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Top-level grouping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(e.g. prod, dev, ml)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834640"/>
            <a:ext cx="269748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834640"/>
            <a:ext cx="2697480" cy="4572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34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SCHEMA /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429000"/>
            <a:ext cx="2697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Logical grouping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(e.g. lending, telemetry)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834640"/>
            <a:ext cx="2697480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834640"/>
            <a:ext cx="2697480" cy="45720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28346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21826"/>
                </a:solidFill>
                <a:latin typeface="Calibri"/>
              </a:rPr>
              <a:t>OBJECT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429000"/>
            <a:ext cx="2697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Table · View · Volume</a:t>
            </a:r>
          </a:p>
          <a:p>
            <a:pPr algn="ctr"/>
            <a:r>
              <a:rPr sz="1200" b="0">
                <a:solidFill>
                  <a:srgbClr val="F5F6F7"/>
                </a:solidFill>
                <a:latin typeface="Calibri"/>
              </a:rPr>
              <a:t>· Function ·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3E00"/>
                </a:solidFill>
                <a:latin typeface="Calibri"/>
              </a:rPr>
              <a:t>PERMISSION CHAIN  (you need each link)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USE CATALOG  →  USE SCHEMA  →  SELECT (or other privilege) on the object.  Grants inherit downwards but READ on a table requires SELECT, not just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70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Feature Engineering in UC · point-in-time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Avoid future leakage when stitching features to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4B4B"/>
                </a:solidFill>
                <a:latin typeface="Calibri"/>
              </a:rPr>
              <a:t>NAIVE  (leaky)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Label rows:  user=42, label_time=Jan-15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Feature table has: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Jan-10  → balance=100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Jan-20  → balance=200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Join on user only  → could pull Jan-20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(value FROM THE FUTURE) into the training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row dated Jan-15.   Train accuracy: great.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Production accuracy: collapses.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86400" cy="4754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CC070"/>
                </a:solidFill>
                <a:latin typeface="Calibri"/>
              </a:rPr>
              <a:t>POINT-IN-TIME  (correct)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FeatureLookup(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table_name='lending.user_features',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lookup_key='user_id',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  timestamp_lookup_key='event_time')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Join logic:  pick the LATEST feature row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with feature_ts ≤ label_ts.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Now Jan-15 label sees only Jan-10 balance.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Same lookup logic is used at SERVING time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via the online store — no training-serving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skew.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71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MLflow · experiment → run → params / metrics /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Four primitives, the rest is convenience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560320" cy="640080"/>
          </a:xfrm>
          <a:prstGeom prst="round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EXPERIMENT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468880"/>
            <a:ext cx="0" cy="36576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834640"/>
            <a:ext cx="256032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017520" y="2194560"/>
            <a:ext cx="640080" cy="96012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17520" y="3154680"/>
            <a:ext cx="640080" cy="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17520" y="3154680"/>
            <a:ext cx="640080" cy="96012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17520" y="3154680"/>
            <a:ext cx="640080" cy="192024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49039" y="1920240"/>
            <a:ext cx="7955279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3E00"/>
                </a:solidFill>
                <a:latin typeface="Calibri"/>
              </a:rPr>
              <a:t>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331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log_param('lr', 0.01)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immutable keys → strings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2926080"/>
            <a:ext cx="7955279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3E00"/>
                </a:solidFill>
                <a:latin typeface="Calibri"/>
              </a:rPr>
              <a:t>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33756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log_metric('rmse', 0.12, step=10)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append-only, time series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931920"/>
            <a:ext cx="7955279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4023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3E00"/>
                </a:solidFill>
                <a:latin typeface="Calibri"/>
              </a:rPr>
              <a:t>TAGS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34340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set_tag('git_sha', '...')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mutable key/value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4937760"/>
            <a:ext cx="7955279" cy="9144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5029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3E00"/>
                </a:solidFill>
                <a:latin typeface="Calibri"/>
              </a:rPr>
              <a:t>ARTIFACTS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3492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log_artifact, log_model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onsolas"/>
              </a:rPr>
              <a:t>files in run's blob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3E00"/>
                </a:solidFill>
                <a:latin typeface="Calibri"/>
              </a:rPr>
              <a:t>mlflow.autolog() captures most of this for sklearn / XGBoost / Keras / PyTorch automatically.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72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UC Model Registry · aliases replace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Champion / Challenger is a moving label, not a folder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3774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E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04B4B"/>
                </a:solidFill>
                <a:latin typeface="Calibri"/>
              </a:rPr>
              <a:t>LEGACY (workspace registry — deprecated)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Stages: None / Staging / Production / Archived.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Moving a version between stages meant transitioning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the version — a fragile mutable concept.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alibri"/>
              </a:rPr>
              <a:t>Not available in Unity Catalog.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86400" cy="23774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CC070"/>
                </a:solidFill>
                <a:latin typeface="Calibri"/>
              </a:rPr>
              <a:t>UC ALIASES  (current)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Each registered model has VERSIONS (1, 2, 3, …).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Aliases are NAMED POINTERS to versions: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  @champion  →  version 4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  @challenger →  version 7</a:t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5F6F7"/>
                </a:solidFill>
                <a:latin typeface="Consolas"/>
              </a:rPr>
              <a:t>Re-point an alias to ship.  Versions never move.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11274552" cy="228600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3E00"/>
                </a:solidFill>
                <a:latin typeface="Calibri"/>
              </a:rPr>
              <a:t>Promotion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37760"/>
            <a:ext cx="128016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937760"/>
            <a:ext cx="128016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4937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0" y="4937760"/>
            <a:ext cx="128016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4937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4937760"/>
            <a:ext cx="128016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937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4937760"/>
            <a:ext cx="128016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937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937760"/>
            <a:ext cx="128016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937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937760"/>
            <a:ext cx="1280160" cy="64008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937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v7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40080" y="5577840"/>
            <a:ext cx="3566160" cy="365760"/>
          </a:xfrm>
          <a:prstGeom prst="bentConnector3">
            <a:avLst/>
          </a:prstGeom>
          <a:ln w="31750">
            <a:solidFill>
              <a:srgbClr val="4CC07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989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CC070"/>
                </a:solidFill>
                <a:latin typeface="Calibri"/>
              </a:rPr>
              <a:t>@champion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229600" y="5577840"/>
            <a:ext cx="2194560" cy="548640"/>
          </a:xfrm>
          <a:prstGeom prst="bentConnector3">
            <a:avLst/>
          </a:prstGeom>
          <a:ln w="31750">
            <a:solidFill>
              <a:srgbClr val="F5C04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C042"/>
                </a:solidFill>
                <a:latin typeface="Calibri"/>
              </a:rPr>
              <a:t>@challenger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73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AutoML · glass-box, not black-box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Auto-explore  →  ranked leaderboard  →  EDA + trial notebooks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97480" cy="2926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3D8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697480" cy="457200"/>
          </a:xfrm>
          <a:prstGeom prst="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331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table + target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+ task type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(classification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/ regression /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forecasting)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3657600.0"/>
            <a:ext cx="91440" cy="0.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2194560"/>
            <a:ext cx="2697480" cy="2926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2194560"/>
            <a:ext cx="2697480" cy="4572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1945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AUTOML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43200"/>
            <a:ext cx="2331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  • EDA notebook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  • feature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   handling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  • trial sweeps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  (logreg, RF,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   XGB, LGBM)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3657600.0"/>
            <a:ext cx="91440" cy="0.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2194560"/>
            <a:ext cx="2697480" cy="2926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4CC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194560"/>
            <a:ext cx="2697480" cy="457200"/>
          </a:xfrm>
          <a:prstGeom prst="rect">
            <a:avLst/>
          </a:prstGeom>
          <a:solidFill>
            <a:srgbClr val="4CC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1945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MLFLOW EXPERIMENT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2331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every trial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logged with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params +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metrics +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autogenerated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notebook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3657600.0"/>
            <a:ext cx="91440" cy="0.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2194560"/>
            <a:ext cx="2697480" cy="29260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5C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2194560"/>
            <a:ext cx="2697480" cy="457200"/>
          </a:xfrm>
          <a:prstGeom prst="rect">
            <a:avLst/>
          </a:prstGeom>
          <a:solidFill>
            <a:srgbClr val="F5C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1945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21826"/>
                </a:solidFill>
                <a:latin typeface="Calibri"/>
              </a:rPr>
              <a:t>BEST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743200"/>
            <a:ext cx="2331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promoted to UC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registry; you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edit its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notebook to</a:t>
            </a:r>
          </a:p>
          <a:p>
            <a:pPr algn="l"/>
            <a:r>
              <a:rPr sz="1200" b="0">
                <a:solidFill>
                  <a:srgbClr val="F5F6F7"/>
                </a:solidFill>
                <a:latin typeface="Calibri"/>
              </a:rPr>
              <a:t>productionise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521440" y="3657600.0"/>
            <a:ext cx="91440" cy="0.0"/>
          </a:xfrm>
          <a:prstGeom prst="bentConnector3">
            <a:avLst/>
          </a:prstGeom>
          <a:ln w="25400">
            <a:solidFill>
              <a:srgbClr val="FF3E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Why "glass-box":  every trial generates a runnable notebook you can read, modify, and own.</a:t>
            </a:r>
          </a:p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Use AutoML as a strong baseline + EDA accelerant — not as a</a:t>
            </a:r>
          </a:p>
          <a:p>
            <a:pPr algn="ctr"/>
            <a:r>
              <a:rPr sz="1300" b="1">
                <a:solidFill>
                  <a:srgbClr val="FF3E00"/>
                </a:solidFill>
                <a:latin typeface="Calibri"/>
              </a:rPr>
              <a:t>way to skip understanding the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74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Capstone &amp;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Chapters 75 – 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C8"/>
                </a:solidFill>
                <a:latin typeface="Calibri"/>
              </a:rPr>
              <a:t>Databricks ML Associate · Mastery Track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Capstone · Lending Club loan-default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Twelve stages — every earlier part of the book shows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82880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Read raw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57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182880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82880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Schema +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3317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182880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2880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EDA + class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317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23, 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64592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5440" y="182880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8288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82880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33172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24-28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10896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329184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2918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29184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Train/test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7947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21-22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310896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74720" y="329184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2918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29184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Pipeline (stages)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7947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62-63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10896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55080" y="329184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2918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29184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Baseline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7947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31-32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310896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35440" y="329184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32918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329184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HPO (CV + grid / Hyperopt)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37947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48-53, 64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57200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4360" y="475488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7548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47548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Evaluate (ROC / PR)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25780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42-43, 46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37560" y="457200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74720" y="475488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0" y="47548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47548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Log to MLflow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525780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72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457200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55080" y="475488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47548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47548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Register in UC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525780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73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98280" y="4572000"/>
            <a:ext cx="2788920" cy="132588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235440" y="4754880"/>
            <a:ext cx="594360" cy="59436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5440" y="47548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40" y="47548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Batch inference + monitor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21240" y="525780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3E00"/>
                </a:solidFill>
                <a:latin typeface="Calibri"/>
              </a:rPr>
              <a:t>Ch 30, 74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75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Synthesis · how the parts compose in 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AB4C8"/>
                </a:solidFill>
                <a:latin typeface="Calibri"/>
              </a:rPr>
              <a:t>Every part of the book contributes — and depends on the ones before 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2377440"/>
            <a:ext cx="2194560" cy="1828800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32319" y="2622453"/>
            <a:ext cx="1097281" cy="1583787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35584" y="3291840"/>
            <a:ext cx="294016" cy="914400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132319" y="4206240"/>
            <a:ext cx="1097281" cy="1583787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35040" y="4206240"/>
            <a:ext cx="2194560" cy="1828800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937760" y="4206240"/>
            <a:ext cx="3291840" cy="1583787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132319" y="5120639"/>
            <a:ext cx="803265" cy="669388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134496" y="3291840"/>
            <a:ext cx="3801088" cy="1828799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134496" y="5120640"/>
            <a:ext cx="2997823" cy="669387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134496" y="5120640"/>
            <a:ext cx="1900544" cy="914400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134496" y="5120640"/>
            <a:ext cx="803264" cy="669387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40480" y="3291840"/>
            <a:ext cx="294016" cy="914400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134496" y="2622453"/>
            <a:ext cx="803264" cy="669387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937760" y="2622453"/>
            <a:ext cx="2194559" cy="3167574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134496" y="2622453"/>
            <a:ext cx="803264" cy="2498187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4937760" y="2622453"/>
            <a:ext cx="3291840" cy="1583787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937760" y="2622453"/>
            <a:ext cx="2997824" cy="2498186"/>
          </a:xfrm>
          <a:prstGeom prst="line">
            <a:avLst/>
          </a:prstGeom>
          <a:ln w="10160">
            <a:solidFill>
              <a:srgbClr val="6C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715000" y="2057400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6812279" y="2302413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79" y="2302413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7615544" y="2971800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5544" y="2971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7909560" y="3886200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3886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Oval 30"/>
          <p:cNvSpPr/>
          <p:nvPr/>
        </p:nvSpPr>
        <p:spPr>
          <a:xfrm>
            <a:off x="7615544" y="4800599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5544" y="480059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3" name="Oval 32"/>
          <p:cNvSpPr/>
          <p:nvPr/>
        </p:nvSpPr>
        <p:spPr>
          <a:xfrm>
            <a:off x="6812279" y="5469987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79" y="5469987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5" name="Oval 34"/>
          <p:cNvSpPr/>
          <p:nvPr/>
        </p:nvSpPr>
        <p:spPr>
          <a:xfrm>
            <a:off x="5715000" y="5715000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37" name="Oval 36"/>
          <p:cNvSpPr/>
          <p:nvPr/>
        </p:nvSpPr>
        <p:spPr>
          <a:xfrm>
            <a:off x="4617720" y="5469987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5469987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9" name="Oval 38"/>
          <p:cNvSpPr/>
          <p:nvPr/>
        </p:nvSpPr>
        <p:spPr>
          <a:xfrm>
            <a:off x="3814456" y="4800600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4456" y="48006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41" name="Oval 40"/>
          <p:cNvSpPr/>
          <p:nvPr/>
        </p:nvSpPr>
        <p:spPr>
          <a:xfrm>
            <a:off x="3520440" y="3886200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40" y="3886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43" name="Oval 42"/>
          <p:cNvSpPr/>
          <p:nvPr/>
        </p:nvSpPr>
        <p:spPr>
          <a:xfrm>
            <a:off x="3814456" y="2971800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14456" y="2971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45" name="Oval 44"/>
          <p:cNvSpPr/>
          <p:nvPr/>
        </p:nvSpPr>
        <p:spPr>
          <a:xfrm>
            <a:off x="4617720" y="2302413"/>
            <a:ext cx="640080" cy="640080"/>
          </a:xfrm>
          <a:prstGeom prst="ellipse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2302413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B4C8"/>
                </a:solidFill>
                <a:latin typeface="Calibri"/>
              </a:rPr>
              <a:t>Edges = "this part uses concepts from that one."   M (capstone) sits at the centre conceptually — it touches every node.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78C"/>
                </a:solidFill>
                <a:latin typeface="Calibri"/>
              </a:rPr>
              <a:t>Databricks ML Associate · Mastery Track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492240"/>
            <a:ext cx="3502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3E00"/>
                </a:solidFill>
                <a:latin typeface="Calibri"/>
              </a:rPr>
              <a:t>Ch 75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3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Now go read the 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AB4C8"/>
                </a:solidFill>
                <a:latin typeface="Calibri"/>
              </a:rPr>
              <a:t>Slides are signposts. The depth lives in the chapters.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10332720" cy="2377440"/>
          </a:xfrm>
          <a:prstGeom prst="roundRect">
            <a:avLst/>
          </a:prstGeom>
          <a:solidFill>
            <a:srgbClr val="1B2336"/>
          </a:solidFill>
          <a:ln w="9525">
            <a:solidFill>
              <a:srgbClr val="FF3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3E00"/>
                </a:solidFill>
                <a:latin typeface="Calibri"/>
              </a:rPr>
              <a:t>TEXTBOOK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topics/09a_databricks_ml_associate/README.md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2628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76 chapters across 13 parts.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Each chapter is self-contained but the parts build linearly.</a:t>
            </a:r>
          </a:p>
          <a:p>
            <a:pPr algn="l"/>
            <a:r>
              <a:rPr sz="1400" b="0">
                <a:solidFill>
                  <a:srgbClr val="F5F6F7"/>
                </a:solidFill>
                <a:latin typeface="Calibri"/>
              </a:rPr>
              <a:t>When a slide here felt thin, the chapter is where the math, the examples, and the Spark code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C778C"/>
                </a:solidFill>
                <a:latin typeface="Calibri"/>
              </a:rPr>
              <a:t>Career upskill · Topic 09a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